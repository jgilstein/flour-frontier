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8"/>
  </p:notesMasterIdLst>
  <p:sldIdLst>
    <p:sldId id="265" r:id="rId3"/>
    <p:sldId id="264" r:id="rId4"/>
    <p:sldId id="262" r:id="rId5"/>
    <p:sldId id="263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67676" autoAdjust="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ke Gilstein" userId="62cb0a79-6670-4fbc-800d-9777482770ad" providerId="ADAL" clId="{E8E93B12-7B5D-4D61-AB68-55954BC0EA68}"/>
    <pc:docChg chg="modSld">
      <pc:chgData name="Jake Gilstein" userId="62cb0a79-6670-4fbc-800d-9777482770ad" providerId="ADAL" clId="{E8E93B12-7B5D-4D61-AB68-55954BC0EA68}" dt="2026-06-08T16:46:54.902" v="14" actId="20577"/>
      <pc:docMkLst>
        <pc:docMk/>
      </pc:docMkLst>
      <pc:sldChg chg="modSp mod">
        <pc:chgData name="Jake Gilstein" userId="62cb0a79-6670-4fbc-800d-9777482770ad" providerId="ADAL" clId="{E8E93B12-7B5D-4D61-AB68-55954BC0EA68}" dt="2026-05-29T17:20:27.593" v="1" actId="6549"/>
        <pc:sldMkLst>
          <pc:docMk/>
          <pc:sldMk cId="0" sldId="260"/>
        </pc:sldMkLst>
        <pc:spChg chg="mod">
          <ac:chgData name="Jake Gilstein" userId="62cb0a79-6670-4fbc-800d-9777482770ad" providerId="ADAL" clId="{E8E93B12-7B5D-4D61-AB68-55954BC0EA68}" dt="2026-05-29T17:20:27.593" v="1" actId="6549"/>
          <ac:spMkLst>
            <pc:docMk/>
            <pc:sldMk cId="0" sldId="260"/>
            <ac:spMk id="18" creationId="{00000000-0000-0000-0000-000000000000}"/>
          </ac:spMkLst>
        </pc:spChg>
      </pc:sldChg>
      <pc:sldChg chg="modSp mod">
        <pc:chgData name="Jake Gilstein" userId="62cb0a79-6670-4fbc-800d-9777482770ad" providerId="ADAL" clId="{E8E93B12-7B5D-4D61-AB68-55954BC0EA68}" dt="2026-06-08T16:46:54.902" v="14" actId="20577"/>
        <pc:sldMkLst>
          <pc:docMk/>
          <pc:sldMk cId="0" sldId="265"/>
        </pc:sldMkLst>
        <pc:spChg chg="mod">
          <ac:chgData name="Jake Gilstein" userId="62cb0a79-6670-4fbc-800d-9777482770ad" providerId="ADAL" clId="{E8E93B12-7B5D-4D61-AB68-55954BC0EA68}" dt="2026-06-08T16:46:54.902" v="14" actId="20577"/>
          <ac:spMkLst>
            <pc:docMk/>
            <pc:sldMk cId="0" sldId="265"/>
            <ac:spMk id="8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6-08T16:46:38.807" v="2" actId="20577"/>
          <ac:spMkLst>
            <pc:docMk/>
            <pc:sldMk cId="0" sldId="265"/>
            <ac:spMk id="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8382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29331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36576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Flour Frontier  ·  NAF FSI Intern Final  ·  Jake Gilstein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36576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General Mills  |  FSI West Zone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64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666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8B17CC-917D-625A-EFDB-C8E764081ABB}"/>
              </a:ext>
            </a:extLst>
          </p:cNvPr>
          <p:cNvSpPr/>
          <p:nvPr/>
        </p:nvSpPr>
        <p:spPr>
          <a:xfrm>
            <a:off x="305" y="24801"/>
            <a:ext cx="12191695" cy="685800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6243" y="430334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4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FLOUR FRONTIER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26243" y="1175287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Where Should NAF FSI Take Flour in the Next 10 Years?</a:t>
            </a:r>
            <a:endParaRPr kumimoji="0" lang="en-US" sz="22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26243" y="32232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Jake Gilstein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26243" y="3817752"/>
            <a:ext cx="10972800" cy="2581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NAF Sales Intern · FSI West Zone - Flour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26243" y="4217370"/>
            <a:ext cx="11295197" cy="2581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defTabSz="914400"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University of South Florida ·  Business Management Major &amp; Marketing Minor </a:t>
            </a: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·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Prior strategic sales &amp; 3PL logistics experience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26243" y="64236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defTabSz="914400">
              <a:defRPr/>
            </a:pPr>
            <a:r>
              <a:rPr kumimoji="0" lang="en-US" sz="1200" b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10 weeks · Flour Frontier Project · Manager: James Mueting · Mentor: Catherine Colon</a:t>
            </a: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 · Buddy: Helen Nguyen</a:t>
            </a:r>
            <a:endParaRPr kumimoji="0" lang="en-US" sz="12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DFF0A3-1EC9-D114-2D78-D8B42F371FF0}"/>
              </a:ext>
            </a:extLst>
          </p:cNvPr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855A0905-33D0-183B-E3C9-707D3A994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2528A36-451E-6901-9ACB-0D13B2A45D71}"/>
              </a:ext>
            </a:extLst>
          </p:cNvPr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457200" y="448591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The Ask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385969"/>
            <a:ext cx="3611880" cy="4877671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94A3B8">
                <a:alpha val="1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74740"/>
            <a:ext cx="3611880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14350" y="1550561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MARKET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00100" y="1921442"/>
            <a:ext cx="3200400" cy="154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US population is shifting south &amp; west, but GM milling capacity isn't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11505" y="3597781"/>
            <a:ext cx="3303270" cy="22030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5 of the top 50 metros account for  30M people, and 4 of them sit &gt;500mi from the nearest GM mill. The Sunbelt is the growth corridor; our mill footprint was built for a different decade.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34840" y="1397726"/>
            <a:ext cx="3611880" cy="4865914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94A3B8">
                <a:alpha val="1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434840" y="1274740"/>
            <a:ext cx="3611880" cy="16459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40580" y="1576963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1F6FEB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BUSINESS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40580" y="2052014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Flour is 19M+ EQC of volume, but YoY is roughly flat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49140" y="3644737"/>
            <a:ext cx="3383280" cy="2404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Branded Sack and Distributor Label make up 75% of distribution. Distributor Label is slipping, Sysco, US Foods, PFG and Independents are all missing program by 4-13%. The volume story is hiding a mix problem.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412480" y="1397726"/>
            <a:ext cx="3611880" cy="4865914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94A3B8">
                <a:alpha val="1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412480" y="1278180"/>
            <a:ext cx="361188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641080" y="1554857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STRATEGY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009904" y="1916156"/>
            <a:ext cx="2570591" cy="168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Only utilize the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 recommendations grounded in real data, not gut feel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734052" y="3652454"/>
            <a:ext cx="3014456" cy="21222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Census growth</a:t>
            </a:r>
            <a:r>
              <a:rPr lang="en-US" sz="2000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,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 HQ inflow, foodservice density, GMI territory performance and mill/warehouse logistics. Six lenses, one scoring framework, one prioritized list of metros to attack.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6342006"/>
            <a:ext cx="1156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The deliverable: a quantitative ranking of growth pockets, a sober view of where our supply chain breaks, and a phased recommendation on where to focus first.</a:t>
            </a:r>
            <a:endParaRPr kumimoji="0" lang="en-US" sz="12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58385B92-8C38-D3F2-D987-263737237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504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6624" y="361296"/>
            <a:ext cx="11277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5 Ranking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352" y="1316176"/>
            <a:ext cx="439729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Dimensions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· 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ormalized 1-5 within the true 5 group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955444"/>
              </p:ext>
            </p:extLst>
          </p:nvPr>
        </p:nvGraphicFramePr>
        <p:xfrm>
          <a:off x="304799" y="1645920"/>
          <a:ext cx="5725064" cy="27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1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85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1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24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524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2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46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Wt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HOU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</a:rPr>
                        <a:t>DFW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ATL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</a:rPr>
                        <a:t>TPA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PHX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Winner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Market Opportunity (TAM gap)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30%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HOU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Market Health (YoY)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15%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DFW/TPA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Future Growth 10yr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15%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PHX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HQ Inflow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10%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F2937"/>
                          </a:solidFill>
                        </a:rPr>
                        <a:t>DFW/ATL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Trajectory Proof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20%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F2937"/>
                          </a:solidFill>
                        </a:rPr>
                        <a:t>HOU/ATL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Transport Quality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10%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DFW/PHX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BBF24"/>
                          </a:solidFill>
                        </a:rPr>
                        <a:t>COMPOSITE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BBF24"/>
                          </a:solidFill>
                        </a:rPr>
                        <a:t>100%</a:t>
                      </a:r>
                      <a:endParaRPr sz="1100" b="1" dirty="0">
                        <a:solidFill>
                          <a:srgbClr val="FBBF24"/>
                        </a:solidFill>
                      </a:endParaRP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BBF24"/>
                          </a:solidFill>
                        </a:rPr>
                        <a:t>4.35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BBF24"/>
                          </a:solidFill>
                        </a:rPr>
                        <a:t>3.95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BBF24"/>
                          </a:solidFill>
                        </a:rPr>
                        <a:t>3.50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BBF24"/>
                          </a:solidFill>
                        </a:rPr>
                        <a:t>3.30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BBF24"/>
                          </a:solidFill>
                        </a:rPr>
                        <a:t>2.80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BBF24"/>
                          </a:solidFill>
                        </a:rPr>
                        <a:t>HOU #1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55934" y="1318919"/>
            <a:ext cx="152477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Rankings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/>
          <p:cNvSpPr/>
          <p:nvPr/>
        </p:nvSpPr>
        <p:spPr>
          <a:xfrm>
            <a:off x="6400802" y="1645920"/>
            <a:ext cx="457200" cy="457200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2" y="164592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Houston  ·  4.35 | Biggest TAM gap in country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Highest-quality win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2" y="2148840"/>
            <a:ext cx="457200" cy="457200"/>
          </a:xfrm>
          <a:prstGeom prst="ellipse">
            <a:avLst/>
          </a:prstGeom>
          <a:solidFill>
            <a:srgbClr val="E55A3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2" y="214884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E5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Dallas-Fort Worth  ·  3.95 | Fix Texas execution first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Highest-stakes</a:t>
            </a: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 first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2" y="2651760"/>
            <a:ext cx="457200" cy="457200"/>
          </a:xfrm>
          <a:prstGeom prst="ellipse">
            <a:avLst/>
          </a:prstGeom>
          <a:solidFill>
            <a:srgbClr val="FBBF2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2" y="265176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Atlanta  ·  3.50 | GFS already winning, double down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Largest underserved market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2" y="3154680"/>
            <a:ext cx="457200" cy="457200"/>
          </a:xfrm>
          <a:prstGeom prst="ellipse">
            <a:avLst/>
          </a:prstGeom>
          <a:solidFill>
            <a:srgbClr val="16A3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2" y="315468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Tampa-St. Pete  ·  3.30 | Fastest growth, build long-term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Strategic build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2" y="3657600"/>
            <a:ext cx="457200" cy="45720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2" y="365760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Phoenix  ·  2.80 | Defense play in losing region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Long-term 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6128" y="4160520"/>
            <a:ext cx="17443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Lenses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071110"/>
              </p:ext>
            </p:extLst>
          </p:nvPr>
        </p:nvGraphicFramePr>
        <p:xfrm>
          <a:off x="6949442" y="4487648"/>
          <a:ext cx="4937760" cy="2045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79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7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21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0105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Lens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Question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 2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15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· Default Strategic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10-yr balanced view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Houston · DFW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157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 · Pure Opportunity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Biggest TAM gap?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Houston · Atlanta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15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 · Urgency to Fix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Biggest current bleed?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DFW · Tampa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157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 · Trajectory Wins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Where is momentum?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Atlanta · Tampa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04799" y="4687356"/>
            <a:ext cx="5725065" cy="18724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Houston wins weighting because the TAM gap is too big to ignore</a:t>
            </a:r>
            <a:endParaRPr lang="en-US" sz="1400" b="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sz="1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Action plan order: Houston → DFW → Atlanta → Tampa → Phoenix</a:t>
            </a:r>
            <a:endParaRPr lang="en-US" sz="1400" b="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4C6898-318A-18B0-9C1A-03EFA10895A0}"/>
              </a:ext>
            </a:extLst>
          </p:cNvPr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D96F1C-84D4-9A70-5C2E-495680AD5EED}"/>
              </a:ext>
            </a:extLst>
          </p:cNvPr>
          <p:cNvSpPr txBox="1"/>
          <p:nvPr/>
        </p:nvSpPr>
        <p:spPr>
          <a:xfrm>
            <a:off x="206624" y="907475"/>
            <a:ext cx="6350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a flat 5-way list to a defensible priority order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79730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CIRCANA VALIDATES THE SOUTH 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2743200" cy="25603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7276" y="1645920"/>
            <a:ext cx="17972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9CA3AF"/>
                </a:solidFill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NORTHEAST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175" y="2057400"/>
            <a:ext cx="21194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347M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lbs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· 56.4% GMI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700" y="2423160"/>
            <a:ext cx="1558439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9CA3A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135" y="3063240"/>
            <a:ext cx="152157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CA3AF"/>
                </a:solidFill>
              </a:defRPr>
            </a:pPr>
            <a:r>
              <a:rPr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Δ: +0.7pp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334" y="3383280"/>
            <a:ext cx="19511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MATURE</a:t>
            </a:r>
          </a:p>
          <a:p>
            <a:pPr algn="ctr"/>
            <a:r>
              <a:rPr sz="14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share, slow growth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554480"/>
            <a:ext cx="2743200" cy="25603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04768" y="1645920"/>
            <a:ext cx="144302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6A34A"/>
                </a:solidFill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535" y="2057400"/>
            <a:ext cx="21194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244M lbs · 22.7% GMI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7060" y="2423160"/>
            <a:ext cx="1558439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16A34A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+5.5%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5496" y="3063240"/>
            <a:ext cx="152157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CA3AF"/>
                </a:solidFill>
              </a:defRPr>
            </a:pPr>
            <a:r>
              <a:rPr sz="1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Δ: +1.2pp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3944" y="3383280"/>
            <a:ext cx="23246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GAINING</a:t>
            </a:r>
          </a:p>
          <a:p>
            <a:pPr algn="ctr"/>
            <a:r>
              <a:rPr sz="14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 share, GMI growing fast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54480"/>
            <a:ext cx="2743200" cy="25603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65465" y="1645920"/>
            <a:ext cx="108234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6A34A"/>
                </a:solidFill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SOUTH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895" y="2057400"/>
            <a:ext cx="21194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794M lbs · 28.6% GMI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7420" y="2423160"/>
            <a:ext cx="1558439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16A34A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+5.1%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5856" y="3063240"/>
            <a:ext cx="152157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CA3AF"/>
                </a:solidFill>
              </a:defRPr>
            </a:pPr>
            <a:r>
              <a:rPr sz="1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Δ: +1.0pp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38913" y="3401794"/>
            <a:ext cx="2935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FRONTIER</a:t>
            </a:r>
          </a:p>
          <a:p>
            <a:pPr algn="ctr"/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45% of US market · True 5 corridor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1554480"/>
            <a:ext cx="2743200" cy="25603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823571" y="1645920"/>
            <a:ext cx="92685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C8102E"/>
                </a:solidFill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WEST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7255" y="2057400"/>
            <a:ext cx="21194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380M lbs · 35.4% GMI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5488" y="2423160"/>
            <a:ext cx="1443023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C8102E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49459" y="3063240"/>
            <a:ext cx="147508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CA3AF"/>
                </a:solidFill>
              </a:defRPr>
            </a:pPr>
            <a:r>
              <a:rPr sz="1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Δ: -1.1pp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974" y="3429000"/>
            <a:ext cx="258205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PRESSURE</a:t>
            </a:r>
          </a:p>
          <a:p>
            <a:pPr algn="ctr"/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GMI losing share</a:t>
            </a: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defend Vernon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97680"/>
            <a:ext cx="11612880" cy="2377440"/>
          </a:xfrm>
          <a:prstGeom prst="rect">
            <a:avLst/>
          </a:prstGeom>
          <a:solidFill>
            <a:srgbClr val="0F1419"/>
          </a:solidFill>
          <a:ln w="254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57200" y="4389120"/>
            <a:ext cx="437812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WHAT THIS MEANS FOR THE TRUE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46320"/>
            <a:ext cx="1143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DFW, Houston, Atlanta, 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 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Tampa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 in the SOUTH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fastest GMI growth (+5.1%) + lowest share (29%) = biggest open runway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57800"/>
            <a:ext cx="1143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PHOENIX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AE performance (+3%) is fighting a regional headwind (-2.5% GMI / -1.1pp share)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must defend Vernon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6928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DISTRIBUTOR LABEL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Declining in EVERY region (-2.9% to -12.4%)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channel-wide bleed validates our Sysco/PFG/</a:t>
            </a:r>
            <a:r>
              <a:rPr sz="160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Indep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program misses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254055"/>
            <a:ext cx="1143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PRIORITY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DFW #1 (urgency in best region) · Phoenix #2 (quality but defensive) · Houston #3 · Atlanta #4 · Tampa #5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6C1BE3-DA5B-EA89-A0A8-FD9F21897CF6}"/>
              </a:ext>
            </a:extLst>
          </p:cNvPr>
          <p:cNvSpPr txBox="1"/>
          <p:nvPr/>
        </p:nvSpPr>
        <p:spPr>
          <a:xfrm>
            <a:off x="401109" y="1009412"/>
            <a:ext cx="8250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TTM May 2025–Apr 2026 · Pounds Adjusted · 4 US Census Regions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31432EE8-2C3F-6783-A74F-5905F021C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My Recommendation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Four phases · Zero capital investment required · All within current 5-mill, 5-warehouse network</a:t>
            </a: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788920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PHASE 1 · Sprint 0-90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4605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900" b="1" dirty="0">
                <a:solidFill>
                  <a:srgbClr val="0F172A"/>
                </a:solidFill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Stabilize</a:t>
            </a: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 Texas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9600" y="2904664"/>
            <a:ext cx="2606040" cy="28846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Root-cause Sysco-TX losses w/ Gus Patrick &amp; </a:t>
            </a:r>
            <a:r>
              <a:rPr lang="en-US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Melissa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Magsalin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Quantify competitive vs program vs distributor loss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Stabilize biggest 5 customer losses by end of FY27 Q1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788920" cy="5029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520440" y="1874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PHASE 2 · Months 3-9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83280" y="24605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Win in the Southeast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406140" y="2813901"/>
            <a:ext cx="2743200" cy="3287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Evaluate proposed Atlanta WH (biggest SE leverage)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Deepen GFS-Shepherdsville w/ Dean Psyhogios (already +122.5%)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FL toll-mill feasibility, no GM capex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Replicate Josh Cohen Nashville playbook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09360" y="182880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25400">
            <a:solidFill>
              <a:srgbClr val="1F6F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309360" y="1828800"/>
            <a:ext cx="2788920" cy="502920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46520" y="1874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PHASE 3 · Months 6-18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46520" y="24605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Build Houston Case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46520" y="3103384"/>
            <a:ext cx="2606040" cy="2773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Quantify Houston Index 49 gap (~8-9M lb opportunity) </a:t>
            </a:r>
            <a:br>
              <a:rPr lang="en-US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Map operator base by segment &amp; channel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Build GTM plan w/ Labatt &amp; Sysco-Houston • Pilot scope w/ Gus Patrick </a:t>
            </a:r>
            <a:r>
              <a:rPr lang="en-US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&amp; Melissa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Magsalin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235440" y="182880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235440" y="1828800"/>
            <a:ext cx="2788920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288780" y="1874520"/>
            <a:ext cx="2819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PHASE 4 · Months 12-24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372600" y="2528310"/>
            <a:ext cx="2606040" cy="3763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Defend the West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326880" y="2994660"/>
            <a:ext cx="2606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defTabSz="91440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West region -1.1pp share </a:t>
            </a:r>
          </a:p>
          <a:p>
            <a:pPr lvl="0" defTabSz="914400">
              <a:defRPr/>
            </a:pPr>
            <a:r>
              <a:rPr lang="en-US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Phoenix only positive True 5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lvl="0" defTabSz="91440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Formalize playbook for Shotsie Wilson, Yoel Sharabi, Nancy Muller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lvl="0" defTabSz="91440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Document Vernon truck-direct advantage </a:t>
            </a:r>
          </a:p>
          <a:p>
            <a:pPr lvl="0" defTabSz="91440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Lock multi-year Custom Label deals in TX/GA chain HQs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0" y="6355080"/>
            <a:ext cx="12191695" cy="41148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ctr" defTabSz="914400"/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 Texas. Win the Southeast. Build Houston. Defend the West. All within the current 5-mill, 5-warehouse network.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2AB80C-EB4C-372A-ED17-7604DAA04578}"/>
              </a:ext>
            </a:extLst>
          </p:cNvPr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1132</TotalTime>
  <Words>980</Words>
  <Application>Microsoft Office PowerPoint</Application>
  <PresentationFormat>Widescreen</PresentationFormat>
  <Paragraphs>177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Carlito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Jake Gilstein</cp:lastModifiedBy>
  <cp:revision>4</cp:revision>
  <dcterms:created xsi:type="dcterms:W3CDTF">2013-01-27T09:14:16Z</dcterms:created>
  <dcterms:modified xsi:type="dcterms:W3CDTF">2026-06-08T16:47:01Z</dcterms:modified>
  <cp:category/>
</cp:coreProperties>
</file>