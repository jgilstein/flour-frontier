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3" r:id="rId1"/>
  </p:sldMasterIdLst>
  <p:notesMasterIdLst>
    <p:notesMasterId r:id="rId16"/>
  </p:notesMasterIdLst>
  <p:sldIdLst>
    <p:sldId id="269" r:id="rId2"/>
    <p:sldId id="270" r:id="rId3"/>
    <p:sldId id="260" r:id="rId4"/>
    <p:sldId id="271" r:id="rId5"/>
    <p:sldId id="259" r:id="rId6"/>
    <p:sldId id="272" r:id="rId7"/>
    <p:sldId id="273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102E"/>
    <a:srgbClr val="F97316"/>
    <a:srgbClr val="1A2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AE4D5A-1618-4811-B23F-3BFA4D012651}" v="929" dt="2026-06-16T18:50:54.5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584" autoAdjust="0"/>
  </p:normalViewPr>
  <p:slideViewPr>
    <p:cSldViewPr snapToGrid="0" snapToObjects="1">
      <p:cViewPr>
        <p:scale>
          <a:sx n="90" d="100"/>
          <a:sy n="90" d="100"/>
        </p:scale>
        <p:origin x="1356" y="5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e Gilstein" userId="62cb0a79-6670-4fbc-800d-9777482770ad" providerId="ADAL" clId="{E8E93B12-7B5D-4D61-AB68-55954BC0EA68}"/>
    <pc:docChg chg="undo redo custSel addSld modSld sldOrd">
      <pc:chgData name="Jake Gilstein" userId="62cb0a79-6670-4fbc-800d-9777482770ad" providerId="ADAL" clId="{E8E93B12-7B5D-4D61-AB68-55954BC0EA68}" dt="2026-06-16T18:54:18.846" v="1019" actId="1076"/>
      <pc:docMkLst>
        <pc:docMk/>
      </pc:docMkLst>
      <pc:sldChg chg="addSp delSp modSp mod ord">
        <pc:chgData name="Jake Gilstein" userId="62cb0a79-6670-4fbc-800d-9777482770ad" providerId="ADAL" clId="{E8E93B12-7B5D-4D61-AB68-55954BC0EA68}" dt="2026-06-16T18:54:18.846" v="1019" actId="1076"/>
        <pc:sldMkLst>
          <pc:docMk/>
          <pc:sldMk cId="0" sldId="259"/>
        </pc:sldMkLst>
        <pc:spChg chg="mod ord">
          <ac:chgData name="Jake Gilstein" userId="62cb0a79-6670-4fbc-800d-9777482770ad" providerId="ADAL" clId="{E8E93B12-7B5D-4D61-AB68-55954BC0EA68}" dt="2026-06-16T18:52:06.651" v="970" actId="167"/>
          <ac:spMkLst>
            <pc:docMk/>
            <pc:sldMk cId="0" sldId="259"/>
            <ac:spMk id="2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22:26.861" v="591" actId="1076"/>
          <ac:spMkLst>
            <pc:docMk/>
            <pc:sldMk cId="0" sldId="259"/>
            <ac:spMk id="3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21:54.917" v="583" actId="478"/>
          <ac:spMkLst>
            <pc:docMk/>
            <pc:sldMk cId="0" sldId="259"/>
            <ac:spMk id="4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21:49.974" v="582" actId="478"/>
          <ac:spMkLst>
            <pc:docMk/>
            <pc:sldMk cId="0" sldId="259"/>
            <ac:spMk id="5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54:04.708" v="1015" actId="1076"/>
          <ac:spMkLst>
            <pc:docMk/>
            <pc:sldMk cId="0" sldId="259"/>
            <ac:spMk id="6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28:51.369" v="634" actId="478"/>
          <ac:spMkLst>
            <pc:docMk/>
            <pc:sldMk cId="0" sldId="259"/>
            <ac:spMk id="7" creationId="{00000000-0000-0000-0000-000000000000}"/>
          </ac:spMkLst>
        </pc:spChg>
        <pc:spChg chg="add 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8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1:57.285" v="968" actId="478"/>
          <ac:spMkLst>
            <pc:docMk/>
            <pc:sldMk cId="0" sldId="259"/>
            <ac:spMk id="9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23:30.400" v="602" actId="1076"/>
          <ac:spMkLst>
            <pc:docMk/>
            <pc:sldMk cId="0" sldId="259"/>
            <ac:spMk id="10" creationId="{00000000-0000-0000-0000-000000000000}"/>
          </ac:spMkLst>
        </pc:spChg>
        <pc:spChg chg="mod ord">
          <ac:chgData name="Jake Gilstein" userId="62cb0a79-6670-4fbc-800d-9777482770ad" providerId="ADAL" clId="{E8E93B12-7B5D-4D61-AB68-55954BC0EA68}" dt="2026-06-16T18:54:09.826" v="1016" actId="1076"/>
          <ac:spMkLst>
            <pc:docMk/>
            <pc:sldMk cId="0" sldId="259"/>
            <ac:spMk id="11" creationId="{00000000-0000-0000-0000-000000000000}"/>
          </ac:spMkLst>
        </pc:spChg>
        <pc:spChg chg="del mod ord">
          <ac:chgData name="Jake Gilstein" userId="62cb0a79-6670-4fbc-800d-9777482770ad" providerId="ADAL" clId="{E8E93B12-7B5D-4D61-AB68-55954BC0EA68}" dt="2026-06-16T18:28:47.885" v="631" actId="478"/>
          <ac:spMkLst>
            <pc:docMk/>
            <pc:sldMk cId="0" sldId="259"/>
            <ac:spMk id="12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48:17.784" v="955" actId="1076"/>
          <ac:spMkLst>
            <pc:docMk/>
            <pc:sldMk cId="0" sldId="259"/>
            <ac:spMk id="13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14" creationId="{00000000-0000-0000-0000-000000000000}"/>
          </ac:spMkLst>
        </pc:spChg>
        <pc:spChg chg="mod ord">
          <ac:chgData name="Jake Gilstein" userId="62cb0a79-6670-4fbc-800d-9777482770ad" providerId="ADAL" clId="{E8E93B12-7B5D-4D61-AB68-55954BC0EA68}" dt="2026-06-16T18:28:36.942" v="625" actId="16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54:12.233" v="1017" actId="1076"/>
          <ac:spMkLst>
            <pc:docMk/>
            <pc:sldMk cId="0" sldId="259"/>
            <ac:spMk id="16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28:47.332" v="630" actId="478"/>
          <ac:spMkLst>
            <pc:docMk/>
            <pc:sldMk cId="0" sldId="259"/>
            <ac:spMk id="17" creationId="{00000000-0000-0000-0000-000000000000}"/>
          </ac:spMkLst>
        </pc:spChg>
        <pc:spChg chg="mod ord">
          <ac:chgData name="Jake Gilstein" userId="62cb0a79-6670-4fbc-800d-9777482770ad" providerId="ADAL" clId="{E8E93B12-7B5D-4D61-AB68-55954BC0EA68}" dt="2026-06-16T18:48:41.853" v="956" actId="1076"/>
          <ac:spMkLst>
            <pc:docMk/>
            <pc:sldMk cId="0" sldId="259"/>
            <ac:spMk id="18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19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20" creationId="{00000000-0000-0000-0000-000000000000}"/>
          </ac:spMkLst>
        </pc:spChg>
        <pc:spChg chg="mod ord">
          <ac:chgData name="Jake Gilstein" userId="62cb0a79-6670-4fbc-800d-9777482770ad" providerId="ADAL" clId="{E8E93B12-7B5D-4D61-AB68-55954BC0EA68}" dt="2026-06-16T18:54:15.910" v="1018" actId="1076"/>
          <ac:spMkLst>
            <pc:docMk/>
            <pc:sldMk cId="0" sldId="259"/>
            <ac:spMk id="21" creationId="{00000000-0000-0000-0000-000000000000}"/>
          </ac:spMkLst>
        </pc:spChg>
        <pc:spChg chg="del mod ord">
          <ac:chgData name="Jake Gilstein" userId="62cb0a79-6670-4fbc-800d-9777482770ad" providerId="ADAL" clId="{E8E93B12-7B5D-4D61-AB68-55954BC0EA68}" dt="2026-06-16T18:28:46.834" v="629" actId="478"/>
          <ac:spMkLst>
            <pc:docMk/>
            <pc:sldMk cId="0" sldId="259"/>
            <ac:spMk id="22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23" creationId="{00000000-0000-0000-0000-000000000000}"/>
          </ac:spMkLst>
        </pc:spChg>
        <pc:spChg chg="del mod or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24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25" creationId="{00000000-0000-0000-0000-000000000000}"/>
          </ac:spMkLst>
        </pc:spChg>
        <pc:spChg chg="mod ord">
          <ac:chgData name="Jake Gilstein" userId="62cb0a79-6670-4fbc-800d-9777482770ad" providerId="ADAL" clId="{E8E93B12-7B5D-4D61-AB68-55954BC0EA68}" dt="2026-06-16T18:54:18.846" v="1019" actId="1076"/>
          <ac:spMkLst>
            <pc:docMk/>
            <pc:sldMk cId="0" sldId="259"/>
            <ac:spMk id="26" creationId="{00000000-0000-0000-0000-000000000000}"/>
          </ac:spMkLst>
        </pc:spChg>
        <pc:spChg chg="del mod ord">
          <ac:chgData name="Jake Gilstein" userId="62cb0a79-6670-4fbc-800d-9777482770ad" providerId="ADAL" clId="{E8E93B12-7B5D-4D61-AB68-55954BC0EA68}" dt="2026-06-16T18:28:45.864" v="628" actId="478"/>
          <ac:spMkLst>
            <pc:docMk/>
            <pc:sldMk cId="0" sldId="259"/>
            <ac:spMk id="27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28" creationId="{00000000-0000-0000-0000-000000000000}"/>
          </ac:spMkLst>
        </pc:spChg>
        <pc:spChg chg="del mod or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29" creationId="{00000000-0000-0000-0000-000000000000}"/>
          </ac:spMkLst>
        </pc:spChg>
        <pc:spChg chg="del mod">
          <ac:chgData name="Jake Gilstein" userId="62cb0a79-6670-4fbc-800d-9777482770ad" providerId="ADAL" clId="{E8E93B12-7B5D-4D61-AB68-55954BC0EA68}" dt="2026-06-16T18:52:01.952" v="969" actId="478"/>
          <ac:spMkLst>
            <pc:docMk/>
            <pc:sldMk cId="0" sldId="259"/>
            <ac:spMk id="30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21:19.301" v="575" actId="478"/>
          <ac:spMkLst>
            <pc:docMk/>
            <pc:sldMk cId="0" sldId="259"/>
            <ac:spMk id="31" creationId="{00000000-0000-0000-0000-000000000000}"/>
          </ac:spMkLst>
        </pc:spChg>
        <pc:graphicFrameChg chg="add del mod modGraphic">
          <ac:chgData name="Jake Gilstein" userId="62cb0a79-6670-4fbc-800d-9777482770ad" providerId="ADAL" clId="{E8E93B12-7B5D-4D61-AB68-55954BC0EA68}" dt="2026-06-16T18:51:40.734" v="965" actId="478"/>
          <ac:graphicFrameMkLst>
            <pc:docMk/>
            <pc:sldMk cId="0" sldId="259"/>
            <ac:graphicFrameMk id="35" creationId="{8C82D6CF-11C1-D289-D419-320C185450FC}"/>
          </ac:graphicFrameMkLst>
        </pc:graphicFrameChg>
        <pc:graphicFrameChg chg="add mod">
          <ac:chgData name="Jake Gilstein" userId="62cb0a79-6670-4fbc-800d-9777482770ad" providerId="ADAL" clId="{E8E93B12-7B5D-4D61-AB68-55954BC0EA68}" dt="2026-06-16T18:30:32.091" v="657"/>
          <ac:graphicFrameMkLst>
            <pc:docMk/>
            <pc:sldMk cId="0" sldId="259"/>
            <ac:graphicFrameMk id="36" creationId="{1D6D4602-CD23-906C-98E0-01EA58334026}"/>
          </ac:graphicFrameMkLst>
        </pc:graphicFrameChg>
        <pc:graphicFrameChg chg="add mod ord modGraphic">
          <ac:chgData name="Jake Gilstein" userId="62cb0a79-6670-4fbc-800d-9777482770ad" providerId="ADAL" clId="{E8E93B12-7B5D-4D61-AB68-55954BC0EA68}" dt="2026-06-16T18:53:56.402" v="1014" actId="14100"/>
          <ac:graphicFrameMkLst>
            <pc:docMk/>
            <pc:sldMk cId="0" sldId="259"/>
            <ac:graphicFrameMk id="37" creationId="{72D69EEE-2DEA-9C93-656A-91621527B987}"/>
          </ac:graphicFrameMkLst>
        </pc:graphicFrameChg>
      </pc:sldChg>
      <pc:sldChg chg="delSp modSp mod">
        <pc:chgData name="Jake Gilstein" userId="62cb0a79-6670-4fbc-800d-9777482770ad" providerId="ADAL" clId="{E8E93B12-7B5D-4D61-AB68-55954BC0EA68}" dt="2026-06-16T18:17:01.038" v="388" actId="1076"/>
        <pc:sldMkLst>
          <pc:docMk/>
          <pc:sldMk cId="0" sldId="260"/>
        </pc:sldMkLst>
        <pc:spChg chg="mod">
          <ac:chgData name="Jake Gilstein" userId="62cb0a79-6670-4fbc-800d-9777482770ad" providerId="ADAL" clId="{E8E93B12-7B5D-4D61-AB68-55954BC0EA68}" dt="2026-06-16T18:16:56.158" v="386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6:47.849" v="382" actId="20577"/>
          <ac:spMkLst>
            <pc:docMk/>
            <pc:sldMk cId="0" sldId="260"/>
            <ac:spMk id="3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8:38.137" v="55" actId="478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7:01.038" v="388" actId="1076"/>
          <ac:spMkLst>
            <pc:docMk/>
            <pc:sldMk cId="0" sldId="260"/>
            <ac:spMk id="5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21.110" v="268" actId="1076"/>
          <ac:spMkLst>
            <pc:docMk/>
            <pc:sldMk cId="0" sldId="260"/>
            <ac:spMk id="6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24.345" v="269" actId="1076"/>
          <ac:spMkLst>
            <pc:docMk/>
            <pc:sldMk cId="0" sldId="260"/>
            <ac:spMk id="7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6:15.338" v="280" actId="1076"/>
          <ac:spMkLst>
            <pc:docMk/>
            <pc:sldMk cId="0" sldId="260"/>
            <ac:spMk id="8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18.145" v="267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29.542" v="270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5:50.999" v="279" actId="107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10.432" v="266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44.315" v="271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5:26.966" v="278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06.249" v="265" actId="107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52.986" v="272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5:24.073" v="277" actId="107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03.745" v="264" actId="107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1:55.229" v="273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5:20.160" v="276" actId="1076"/>
          <ac:spMkLst>
            <pc:docMk/>
            <pc:sldMk cId="0" sldId="260"/>
            <ac:spMk id="20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0:58.633" v="263" actId="1076"/>
          <ac:spMkLst>
            <pc:docMk/>
            <pc:sldMk cId="0" sldId="260"/>
            <ac:spMk id="21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2:15.618" v="274" actId="1076"/>
          <ac:spMkLst>
            <pc:docMk/>
            <pc:sldMk cId="0" sldId="260"/>
            <ac:spMk id="22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15:16.128" v="275" actId="1076"/>
          <ac:spMkLst>
            <pc:docMk/>
            <pc:sldMk cId="0" sldId="260"/>
            <ac:spMk id="23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26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28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0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2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3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4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7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8" creationId="{00000000-0000-0000-0000-000000000000}"/>
          </ac:spMkLst>
        </pc:spChg>
        <pc:spChg chg="del">
          <ac:chgData name="Jake Gilstein" userId="62cb0a79-6670-4fbc-800d-9777482770ad" providerId="ADAL" clId="{E8E93B12-7B5D-4D61-AB68-55954BC0EA68}" dt="2026-06-16T18:09:27.950" v="72" actId="478"/>
          <ac:spMkLst>
            <pc:docMk/>
            <pc:sldMk cId="0" sldId="260"/>
            <ac:spMk id="39" creationId="{00000000-0000-0000-0000-000000000000}"/>
          </ac:spMkLst>
        </pc:spChg>
      </pc:sldChg>
      <pc:sldChg chg="modSp mod">
        <pc:chgData name="Jake Gilstein" userId="62cb0a79-6670-4fbc-800d-9777482770ad" providerId="ADAL" clId="{E8E93B12-7B5D-4D61-AB68-55954BC0EA68}" dt="2026-06-16T18:08:05.036" v="52" actId="1076"/>
        <pc:sldMkLst>
          <pc:docMk/>
          <pc:sldMk cId="0" sldId="263"/>
        </pc:sldMkLst>
        <pc:spChg chg="mod">
          <ac:chgData name="Jake Gilstein" userId="62cb0a79-6670-4fbc-800d-9777482770ad" providerId="ADAL" clId="{E8E93B12-7B5D-4D61-AB68-55954BC0EA68}" dt="2026-06-16T18:08:05.036" v="52" actId="1076"/>
          <ac:spMkLst>
            <pc:docMk/>
            <pc:sldMk cId="0" sldId="263"/>
            <ac:spMk id="22" creationId="{00000000-0000-0000-0000-000000000000}"/>
          </ac:spMkLst>
        </pc:spChg>
      </pc:sldChg>
      <pc:sldChg chg="modSp mod">
        <pc:chgData name="Jake Gilstein" userId="62cb0a79-6670-4fbc-800d-9777482770ad" providerId="ADAL" clId="{E8E93B12-7B5D-4D61-AB68-55954BC0EA68}" dt="2026-06-16T18:07:26.021" v="50" actId="404"/>
        <pc:sldMkLst>
          <pc:docMk/>
          <pc:sldMk cId="0" sldId="265"/>
        </pc:sldMkLst>
        <pc:spChg chg="mod">
          <ac:chgData name="Jake Gilstein" userId="62cb0a79-6670-4fbc-800d-9777482770ad" providerId="ADAL" clId="{E8E93B12-7B5D-4D61-AB68-55954BC0EA68}" dt="2026-06-16T18:07:26.021" v="50" actId="404"/>
          <ac:spMkLst>
            <pc:docMk/>
            <pc:sldMk cId="0" sldId="265"/>
            <ac:spMk id="30" creationId="{00000000-0000-0000-0000-000000000000}"/>
          </ac:spMkLst>
        </pc:spChg>
      </pc:sldChg>
      <pc:sldChg chg="modSp mod">
        <pc:chgData name="Jake Gilstein" userId="62cb0a79-6670-4fbc-800d-9777482770ad" providerId="ADAL" clId="{E8E93B12-7B5D-4D61-AB68-55954BC0EA68}" dt="2026-06-16T18:07:20.080" v="46" actId="1076"/>
        <pc:sldMkLst>
          <pc:docMk/>
          <pc:sldMk cId="0" sldId="267"/>
        </pc:sldMkLst>
        <pc:spChg chg="mod">
          <ac:chgData name="Jake Gilstein" userId="62cb0a79-6670-4fbc-800d-9777482770ad" providerId="ADAL" clId="{E8E93B12-7B5D-4D61-AB68-55954BC0EA68}" dt="2026-06-16T18:07:01.498" v="45" actId="14100"/>
          <ac:spMkLst>
            <pc:docMk/>
            <pc:sldMk cId="0" sldId="267"/>
            <ac:spMk id="26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06:55.808" v="44" actId="14100"/>
          <ac:spMkLst>
            <pc:docMk/>
            <pc:sldMk cId="0" sldId="267"/>
            <ac:spMk id="27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16T18:07:20.080" v="46" actId="1076"/>
          <ac:spMkLst>
            <pc:docMk/>
            <pc:sldMk cId="0" sldId="267"/>
            <ac:spMk id="28" creationId="{00000000-0000-0000-0000-000000000000}"/>
          </ac:spMkLst>
        </pc:spChg>
      </pc:sldChg>
      <pc:sldChg chg="addSp delSp modSp mod">
        <pc:chgData name="Jake Gilstein" userId="62cb0a79-6670-4fbc-800d-9777482770ad" providerId="ADAL" clId="{E8E93B12-7B5D-4D61-AB68-55954BC0EA68}" dt="2026-06-16T18:19:21.582" v="564" actId="1076"/>
        <pc:sldMkLst>
          <pc:docMk/>
          <pc:sldMk cId="1870498260" sldId="270"/>
        </pc:sldMkLst>
        <pc:spChg chg="add del mod">
          <ac:chgData name="Jake Gilstein" userId="62cb0a79-6670-4fbc-800d-9777482770ad" providerId="ADAL" clId="{E8E93B12-7B5D-4D61-AB68-55954BC0EA68}" dt="2026-06-16T18:18:49.186" v="490" actId="478"/>
          <ac:spMkLst>
            <pc:docMk/>
            <pc:sldMk cId="1870498260" sldId="270"/>
            <ac:spMk id="4" creationId="{A050B681-C4F6-2DE3-2CFC-8FC6D0E7BA10}"/>
          </ac:spMkLst>
        </pc:spChg>
        <pc:spChg chg="mod">
          <ac:chgData name="Jake Gilstein" userId="62cb0a79-6670-4fbc-800d-9777482770ad" providerId="ADAL" clId="{E8E93B12-7B5D-4D61-AB68-55954BC0EA68}" dt="2026-06-16T18:18:49.116" v="488" actId="113"/>
          <ac:spMkLst>
            <pc:docMk/>
            <pc:sldMk cId="1870498260" sldId="270"/>
            <ac:spMk id="9" creationId="{35A315FB-DF44-8053-1D2F-186FDB5C9ABB}"/>
          </ac:spMkLst>
        </pc:spChg>
        <pc:spChg chg="add del mod">
          <ac:chgData name="Jake Gilstein" userId="62cb0a79-6670-4fbc-800d-9777482770ad" providerId="ADAL" clId="{E8E93B12-7B5D-4D61-AB68-55954BC0EA68}" dt="2026-06-16T18:19:21.582" v="564" actId="1076"/>
          <ac:spMkLst>
            <pc:docMk/>
            <pc:sldMk cId="1870498260" sldId="270"/>
            <ac:spMk id="14" creationId="{1536BD09-F858-E408-4D96-562A8A6530B7}"/>
          </ac:spMkLst>
        </pc:spChg>
      </pc:sldChg>
      <pc:sldChg chg="addSp delSp modSp add mod">
        <pc:chgData name="Jake Gilstein" userId="62cb0a79-6670-4fbc-800d-9777482770ad" providerId="ADAL" clId="{E8E93B12-7B5D-4D61-AB68-55954BC0EA68}" dt="2026-06-16T18:16:41.249" v="359" actId="20577"/>
        <pc:sldMkLst>
          <pc:docMk/>
          <pc:sldMk cId="1500727639" sldId="271"/>
        </pc:sldMkLst>
        <pc:spChg chg="add del">
          <ac:chgData name="Jake Gilstein" userId="62cb0a79-6670-4fbc-800d-9777482770ad" providerId="ADAL" clId="{E8E93B12-7B5D-4D61-AB68-55954BC0EA68}" dt="2026-06-16T18:09:06.448" v="67" actId="478"/>
          <ac:spMkLst>
            <pc:docMk/>
            <pc:sldMk cId="1500727639" sldId="271"/>
            <ac:spMk id="2" creationId="{BB21C9EA-F458-A327-5CEF-D0CB47D1975F}"/>
          </ac:spMkLst>
        </pc:spChg>
        <pc:spChg chg="mod">
          <ac:chgData name="Jake Gilstein" userId="62cb0a79-6670-4fbc-800d-9777482770ad" providerId="ADAL" clId="{E8E93B12-7B5D-4D61-AB68-55954BC0EA68}" dt="2026-06-16T18:16:41.249" v="359" actId="20577"/>
          <ac:spMkLst>
            <pc:docMk/>
            <pc:sldMk cId="1500727639" sldId="271"/>
            <ac:spMk id="3" creationId="{11BA9D88-7D8F-5F4D-A339-850BC2425D0F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6" creationId="{307FC2B3-53B9-64E4-49D7-850095CF89C6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7" creationId="{6129B188-2EDD-B678-B7DE-1643029357DE}"/>
          </ac:spMkLst>
        </pc:spChg>
        <pc:spChg chg="del">
          <ac:chgData name="Jake Gilstein" userId="62cb0a79-6670-4fbc-800d-9777482770ad" providerId="ADAL" clId="{E8E93B12-7B5D-4D61-AB68-55954BC0EA68}" dt="2026-06-16T18:09:11.390" v="70" actId="478"/>
          <ac:spMkLst>
            <pc:docMk/>
            <pc:sldMk cId="1500727639" sldId="271"/>
            <ac:spMk id="8" creationId="{CB73A1F2-3B79-DE57-8F6B-9A2A32A15967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9" creationId="{7D8247BB-6EE0-E17B-427F-583C4D8C72D2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10" creationId="{CA47C307-89AC-0772-E098-6DB2DBF6EDFF}"/>
          </ac:spMkLst>
        </pc:spChg>
        <pc:spChg chg="del">
          <ac:chgData name="Jake Gilstein" userId="62cb0a79-6670-4fbc-800d-9777482770ad" providerId="ADAL" clId="{E8E93B12-7B5D-4D61-AB68-55954BC0EA68}" dt="2026-06-16T18:09:10.208" v="69" actId="478"/>
          <ac:spMkLst>
            <pc:docMk/>
            <pc:sldMk cId="1500727639" sldId="271"/>
            <ac:spMk id="11" creationId="{11769E23-41FA-E88D-AC36-E52A5E660478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12" creationId="{B6A9E535-289B-E5AE-FCF4-5A3307D017BA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13" creationId="{057759F5-602E-32EE-A10A-E623EBE83B36}"/>
          </ac:spMkLst>
        </pc:spChg>
        <pc:spChg chg="del">
          <ac:chgData name="Jake Gilstein" userId="62cb0a79-6670-4fbc-800d-9777482770ad" providerId="ADAL" clId="{E8E93B12-7B5D-4D61-AB68-55954BC0EA68}" dt="2026-06-16T18:09:09.231" v="68" actId="478"/>
          <ac:spMkLst>
            <pc:docMk/>
            <pc:sldMk cId="1500727639" sldId="271"/>
            <ac:spMk id="14" creationId="{BFBA586E-581B-1DC6-589F-EA96CA421CFF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16" creationId="{5AA1B33C-64FA-6FC3-D95F-7DAB5F955310}"/>
          </ac:spMkLst>
        </pc:spChg>
        <pc:spChg chg="del">
          <ac:chgData name="Jake Gilstein" userId="62cb0a79-6670-4fbc-800d-9777482770ad" providerId="ADAL" clId="{E8E93B12-7B5D-4D61-AB68-55954BC0EA68}" dt="2026-06-16T18:09:04.127" v="65" actId="478"/>
          <ac:spMkLst>
            <pc:docMk/>
            <pc:sldMk cId="1500727639" sldId="271"/>
            <ac:spMk id="17" creationId="{44B0F3EA-7A7B-B3E2-345E-D04FD8AB3802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18" creationId="{E5581B3C-315C-FEFB-01C8-D566F6AE3D8B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19" creationId="{AA88BDC4-E7A0-5C52-0A5B-B8E8F73F6BE7}"/>
          </ac:spMkLst>
        </pc:spChg>
        <pc:spChg chg="del">
          <ac:chgData name="Jake Gilstein" userId="62cb0a79-6670-4fbc-800d-9777482770ad" providerId="ADAL" clId="{E8E93B12-7B5D-4D61-AB68-55954BC0EA68}" dt="2026-06-16T18:09:03.267" v="64" actId="478"/>
          <ac:spMkLst>
            <pc:docMk/>
            <pc:sldMk cId="1500727639" sldId="271"/>
            <ac:spMk id="20" creationId="{C87CA344-AD20-056D-E4E0-23498D55EBE3}"/>
          </ac:spMkLst>
        </pc:spChg>
        <pc:spChg chg="del">
          <ac:chgData name="Jake Gilstein" userId="62cb0a79-6670-4fbc-800d-9777482770ad" providerId="ADAL" clId="{E8E93B12-7B5D-4D61-AB68-55954BC0EA68}" dt="2026-06-16T18:08:58.955" v="63" actId="478"/>
          <ac:spMkLst>
            <pc:docMk/>
            <pc:sldMk cId="1500727639" sldId="271"/>
            <ac:spMk id="23" creationId="{B2CC9097-062D-7E5E-407F-38FF170E30DA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25" creationId="{F60568D9-7093-184F-1E5F-16AF82ADC931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26" creationId="{77FA69B7-709A-F402-FB93-E218D66076FF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0" creationId="{72BBCBE7-B03D-51A2-4630-E59DC3208700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1" creationId="{95462369-4A3E-044B-DD99-11E4C60829C3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3" creationId="{CA03223A-4707-867A-20C0-84CBA3A920EF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5" creationId="{446FDFA0-56C2-9C00-2D2C-2A599E284A22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6" creationId="{60BE94F5-1A6D-24A9-0866-08289DD2A0B7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8" creationId="{6228E9A1-8D02-09BA-501A-691606A033F7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39" creationId="{114DCCCA-0D80-711E-2B05-FE51DF0B3344}"/>
          </ac:spMkLst>
        </pc:spChg>
        <pc:spChg chg="mod">
          <ac:chgData name="Jake Gilstein" userId="62cb0a79-6670-4fbc-800d-9777482770ad" providerId="ADAL" clId="{E8E93B12-7B5D-4D61-AB68-55954BC0EA68}" dt="2026-06-16T18:09:23.798" v="71" actId="1076"/>
          <ac:spMkLst>
            <pc:docMk/>
            <pc:sldMk cId="1500727639" sldId="271"/>
            <ac:spMk id="40" creationId="{280C08CE-8F8E-A4A5-9B98-30AC4EFFD3FA}"/>
          </ac:spMkLst>
        </pc:spChg>
      </pc:sldChg>
      <pc:sldChg chg="addSp delSp modSp new mod">
        <pc:chgData name="Jake Gilstein" userId="62cb0a79-6670-4fbc-800d-9777482770ad" providerId="ADAL" clId="{E8E93B12-7B5D-4D61-AB68-55954BC0EA68}" dt="2026-06-16T18:37:42.147" v="929" actId="1076"/>
        <pc:sldMkLst>
          <pc:docMk/>
          <pc:sldMk cId="3118777050" sldId="272"/>
        </pc:sldMkLst>
        <pc:spChg chg="add mod ord">
          <ac:chgData name="Jake Gilstein" userId="62cb0a79-6670-4fbc-800d-9777482770ad" providerId="ADAL" clId="{E8E93B12-7B5D-4D61-AB68-55954BC0EA68}" dt="2026-06-16T18:37:42.147" v="929" actId="1076"/>
          <ac:spMkLst>
            <pc:docMk/>
            <pc:sldMk cId="3118777050" sldId="272"/>
            <ac:spMk id="6" creationId="{5D32F292-1178-9CBF-6D9F-2B9301B6B70F}"/>
          </ac:spMkLst>
        </pc:spChg>
        <pc:spChg chg="add mod">
          <ac:chgData name="Jake Gilstein" userId="62cb0a79-6670-4fbc-800d-9777482770ad" providerId="ADAL" clId="{E8E93B12-7B5D-4D61-AB68-55954BC0EA68}" dt="2026-06-16T18:35:21.873" v="711"/>
          <ac:spMkLst>
            <pc:docMk/>
            <pc:sldMk cId="3118777050" sldId="272"/>
            <ac:spMk id="7" creationId="{C2C94483-B055-07CB-777E-DA4B213A3C20}"/>
          </ac:spMkLst>
        </pc:spChg>
        <pc:spChg chg="add mod">
          <ac:chgData name="Jake Gilstein" userId="62cb0a79-6670-4fbc-800d-9777482770ad" providerId="ADAL" clId="{E8E93B12-7B5D-4D61-AB68-55954BC0EA68}" dt="2026-06-16T18:35:56.727" v="737" actId="1076"/>
          <ac:spMkLst>
            <pc:docMk/>
            <pc:sldMk cId="3118777050" sldId="272"/>
            <ac:spMk id="8" creationId="{0D457F4A-819B-03E3-83A6-8F970BF093E8}"/>
          </ac:spMkLst>
        </pc:spChg>
        <pc:spChg chg="add mod">
          <ac:chgData name="Jake Gilstein" userId="62cb0a79-6670-4fbc-800d-9777482770ad" providerId="ADAL" clId="{E8E93B12-7B5D-4D61-AB68-55954BC0EA68}" dt="2026-06-16T18:37:19.531" v="925" actId="1076"/>
          <ac:spMkLst>
            <pc:docMk/>
            <pc:sldMk cId="3118777050" sldId="272"/>
            <ac:spMk id="9" creationId="{02F0A242-5908-7E2A-C904-FFC918F563FE}"/>
          </ac:spMkLst>
        </pc:spChg>
        <pc:picChg chg="add del">
          <ac:chgData name="Jake Gilstein" userId="62cb0a79-6670-4fbc-800d-9777482770ad" providerId="ADAL" clId="{E8E93B12-7B5D-4D61-AB68-55954BC0EA68}" dt="2026-06-16T18:35:08.373" v="707" actId="478"/>
          <ac:picMkLst>
            <pc:docMk/>
            <pc:sldMk cId="3118777050" sldId="272"/>
            <ac:picMk id="3" creationId="{A1392806-B291-B45F-22B6-E540FD969B34}"/>
          </ac:picMkLst>
        </pc:picChg>
        <pc:picChg chg="add mod">
          <ac:chgData name="Jake Gilstein" userId="62cb0a79-6670-4fbc-800d-9777482770ad" providerId="ADAL" clId="{E8E93B12-7B5D-4D61-AB68-55954BC0EA68}" dt="2026-06-16T18:37:41.716" v="928" actId="14100"/>
          <ac:picMkLst>
            <pc:docMk/>
            <pc:sldMk cId="3118777050" sldId="272"/>
            <ac:picMk id="5" creationId="{86B053BE-77B8-430D-ED9A-BE28BEF4457F}"/>
          </ac:picMkLst>
        </pc:picChg>
      </pc:sldChg>
      <pc:sldChg chg="modSp add mod">
        <pc:chgData name="Jake Gilstein" userId="62cb0a79-6670-4fbc-800d-9777482770ad" providerId="ADAL" clId="{E8E93B12-7B5D-4D61-AB68-55954BC0EA68}" dt="2026-06-16T18:37:55.397" v="952" actId="20577"/>
        <pc:sldMkLst>
          <pc:docMk/>
          <pc:sldMk cId="3841553845" sldId="273"/>
        </pc:sldMkLst>
        <pc:spChg chg="mod">
          <ac:chgData name="Jake Gilstein" userId="62cb0a79-6670-4fbc-800d-9777482770ad" providerId="ADAL" clId="{E8E93B12-7B5D-4D61-AB68-55954BC0EA68}" dt="2026-06-16T18:37:55.397" v="952" actId="20577"/>
          <ac:spMkLst>
            <pc:docMk/>
            <pc:sldMk cId="3841553845" sldId="273"/>
            <ac:spMk id="8" creationId="{578892EE-77C4-F5F4-800A-759E5DB8EAF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6D9FDA-E46D-45A1-8A98-88E43937AB36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88D9FF-ED2B-43CE-8FF2-62F9335B0B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056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B7C6F-CD56-2312-207C-C1FB9979B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FEA2B-C4DE-32C4-E4F4-0912FB1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5A978-4127-7406-E28F-8980177A0E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CFB86-F9B6-7E88-9C5E-87B4811580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42672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3978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84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6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613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25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99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845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284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54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26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15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443678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345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854660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306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01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8890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23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683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8B17CC-917D-625A-EFDB-C8E764081ABB}"/>
              </a:ext>
            </a:extLst>
          </p:cNvPr>
          <p:cNvSpPr/>
          <p:nvPr/>
        </p:nvSpPr>
        <p:spPr>
          <a:xfrm>
            <a:off x="305" y="365759"/>
            <a:ext cx="12191695" cy="6517041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6243" y="430334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4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FLOUR FRONTIER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26243" y="1175287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Where Should NAF FSI Take Flour in the Next 10 Years?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6243" y="32232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Jake Gilstein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26243" y="3817752"/>
            <a:ext cx="10972800" cy="258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NAF Sales Intern · FSI West Zone - Flour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26243" y="4217370"/>
            <a:ext cx="11295197" cy="258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University of South Florida ·  Business Management Major &amp; Marketing Minor · Prior strategic sales &amp; 3PL logistics experience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26243" y="64236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10 weeks · Flour Frontier Project · Manager: James Mueting · Mentor: Catherine Colon · Buddy: Helen Nguyen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DFF0A3-1EC9-D114-2D78-D8B42F371FF0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6F5CA-3C56-F063-0480-61E49228D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4FD2C395-362A-6C2B-2A79-76BBEAACD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5" y="-13455"/>
            <a:ext cx="12192000" cy="687145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D54379E-3D6B-9B0F-EFC4-6301BBEDDF0B}"/>
              </a:ext>
            </a:extLst>
          </p:cNvPr>
          <p:cNvSpPr/>
          <p:nvPr/>
        </p:nvSpPr>
        <p:spPr>
          <a:xfrm>
            <a:off x="1" y="-13455"/>
            <a:ext cx="12191695" cy="2504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BE3163-2305-C7FF-98F5-416A166F02F6}"/>
              </a:ext>
            </a:extLst>
          </p:cNvPr>
          <p:cNvSpPr/>
          <p:nvPr/>
        </p:nvSpPr>
        <p:spPr>
          <a:xfrm>
            <a:off x="1" y="-13456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ounded Rectangle 6">
            <a:extLst>
              <a:ext uri="{FF2B5EF4-FFF2-40B4-BE49-F238E27FC236}">
                <a16:creationId xmlns:a16="http://schemas.microsoft.com/office/drawing/2014/main" id="{E8F5A299-3BB6-5B89-9C34-46B284EC6E37}"/>
              </a:ext>
            </a:extLst>
          </p:cNvPr>
          <p:cNvSpPr/>
          <p:nvPr/>
        </p:nvSpPr>
        <p:spPr>
          <a:xfrm>
            <a:off x="166991" y="1645712"/>
            <a:ext cx="3752836" cy="2033763"/>
          </a:xfrm>
          <a:prstGeom prst="roundRect">
            <a:avLst/>
          </a:prstGeom>
          <a:solidFill>
            <a:srgbClr val="1A2332"/>
          </a:solidFill>
          <a:ln w="12700">
            <a:solidFill>
              <a:srgbClr val="36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5163AC93-C6F9-9EF0-D379-0D5E4AD699D4}"/>
              </a:ext>
            </a:extLst>
          </p:cNvPr>
          <p:cNvSpPr/>
          <p:nvPr/>
        </p:nvSpPr>
        <p:spPr>
          <a:xfrm>
            <a:off x="1097881" y="1985097"/>
            <a:ext cx="1321421" cy="27778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CD03F-2A1C-459A-B780-BCB02C9AA3E3}"/>
              </a:ext>
            </a:extLst>
          </p:cNvPr>
          <p:cNvSpPr txBox="1"/>
          <p:nvPr/>
        </p:nvSpPr>
        <p:spPr>
          <a:xfrm>
            <a:off x="617270" y="2348238"/>
            <a:ext cx="2852279" cy="78021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65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Flour is mature to declining. Growth comes from share, mix, and execution.</a:t>
            </a:r>
          </a:p>
        </p:txBody>
      </p:sp>
      <p:sp>
        <p:nvSpPr>
          <p:cNvPr id="19" name="Rounded Rectangle 10">
            <a:extLst>
              <a:ext uri="{FF2B5EF4-FFF2-40B4-BE49-F238E27FC236}">
                <a16:creationId xmlns:a16="http://schemas.microsoft.com/office/drawing/2014/main" id="{378EE8CD-BE38-0E56-2ADF-D4C860AF5847}"/>
              </a:ext>
            </a:extLst>
          </p:cNvPr>
          <p:cNvSpPr/>
          <p:nvPr/>
        </p:nvSpPr>
        <p:spPr>
          <a:xfrm>
            <a:off x="3943464" y="1645712"/>
            <a:ext cx="3752836" cy="2033763"/>
          </a:xfrm>
          <a:prstGeom prst="roundRect">
            <a:avLst/>
          </a:prstGeom>
          <a:solidFill>
            <a:srgbClr val="1A2332"/>
          </a:solidFill>
          <a:ln w="12700">
            <a:solidFill>
              <a:srgbClr val="36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4884B67A-8B8A-C44A-9D83-A3D0867A3A9F}"/>
              </a:ext>
            </a:extLst>
          </p:cNvPr>
          <p:cNvSpPr/>
          <p:nvPr/>
        </p:nvSpPr>
        <p:spPr>
          <a:xfrm>
            <a:off x="5017796" y="1980823"/>
            <a:ext cx="1321421" cy="28683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C8BA4C-B5CB-74B7-167F-F402337A21C9}"/>
              </a:ext>
            </a:extLst>
          </p:cNvPr>
          <p:cNvSpPr txBox="1"/>
          <p:nvPr/>
        </p:nvSpPr>
        <p:spPr>
          <a:xfrm>
            <a:off x="4346131" y="2346055"/>
            <a:ext cx="2852279" cy="78021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65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 and channel views hide geographic gaps and underserved pockets.</a:t>
            </a:r>
          </a:p>
        </p:txBody>
      </p:sp>
      <p:sp>
        <p:nvSpPr>
          <p:cNvPr id="27" name="Rounded Rectangle 14">
            <a:extLst>
              <a:ext uri="{FF2B5EF4-FFF2-40B4-BE49-F238E27FC236}">
                <a16:creationId xmlns:a16="http://schemas.microsoft.com/office/drawing/2014/main" id="{9114B370-C35E-6BC8-9562-EF8B46C5AEC8}"/>
              </a:ext>
            </a:extLst>
          </p:cNvPr>
          <p:cNvSpPr/>
          <p:nvPr/>
        </p:nvSpPr>
        <p:spPr>
          <a:xfrm>
            <a:off x="7719935" y="1645712"/>
            <a:ext cx="3752836" cy="2033763"/>
          </a:xfrm>
          <a:prstGeom prst="roundRect">
            <a:avLst/>
          </a:prstGeom>
          <a:solidFill>
            <a:srgbClr val="1A2332"/>
          </a:solidFill>
          <a:ln w="12700">
            <a:solidFill>
              <a:srgbClr val="36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ounded Rectangle 15">
            <a:extLst>
              <a:ext uri="{FF2B5EF4-FFF2-40B4-BE49-F238E27FC236}">
                <a16:creationId xmlns:a16="http://schemas.microsoft.com/office/drawing/2014/main" id="{22F9C398-803B-7B24-BADE-81D9AA1BE292}"/>
              </a:ext>
            </a:extLst>
          </p:cNvPr>
          <p:cNvSpPr/>
          <p:nvPr/>
        </p:nvSpPr>
        <p:spPr>
          <a:xfrm>
            <a:off x="8860464" y="1980325"/>
            <a:ext cx="1231589" cy="287329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8462D5-E523-EC39-2512-CF50820B49CD}"/>
              </a:ext>
            </a:extLst>
          </p:cNvPr>
          <p:cNvSpPr txBox="1"/>
          <p:nvPr/>
        </p:nvSpPr>
        <p:spPr>
          <a:xfrm>
            <a:off x="8555798" y="2348238"/>
            <a:ext cx="2081107" cy="78021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65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a map-based view of sales intensity and growth exposure.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F08C230B-304A-3157-2AED-B39B6C3E7024}"/>
              </a:ext>
            </a:extLst>
          </p:cNvPr>
          <p:cNvSpPr/>
          <p:nvPr/>
        </p:nvSpPr>
        <p:spPr>
          <a:xfrm>
            <a:off x="3417468" y="2480365"/>
            <a:ext cx="640295" cy="257179"/>
          </a:xfrm>
          <a:prstGeom prst="rightArrow">
            <a:avLst/>
          </a:prstGeom>
          <a:solidFill>
            <a:srgbClr val="C8102E"/>
          </a:solidFill>
          <a:ln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C2870340-8CBC-C29F-C497-44E6DCEBB6B6}"/>
              </a:ext>
            </a:extLst>
          </p:cNvPr>
          <p:cNvSpPr/>
          <p:nvPr/>
        </p:nvSpPr>
        <p:spPr>
          <a:xfrm>
            <a:off x="7336344" y="2480364"/>
            <a:ext cx="640295" cy="257179"/>
          </a:xfrm>
          <a:prstGeom prst="rightArrow">
            <a:avLst/>
          </a:prstGeom>
          <a:solidFill>
            <a:srgbClr val="C8102E"/>
          </a:solidFill>
          <a:ln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FF3513-0759-FA93-55F6-A72284279DF9}"/>
              </a:ext>
            </a:extLst>
          </p:cNvPr>
          <p:cNvSpPr txBox="1"/>
          <p:nvPr/>
        </p:nvSpPr>
        <p:spPr>
          <a:xfrm>
            <a:off x="321715" y="6259964"/>
            <a:ext cx="100154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63">
              <a:defRPr/>
            </a:pPr>
            <a:r>
              <a:rPr lang="en-US" sz="1600" dirty="0">
                <a:solidFill>
                  <a:prstClr val="white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Jake Gilstein · Flour Frontier Project · NAF Sales · FSI </a:t>
            </a:r>
            <a:endParaRPr lang="en-US" sz="1600" dirty="0">
              <a:solidFill>
                <a:prstClr val="whit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A315FB-DF44-8053-1D2F-186FDB5C9ABB}"/>
              </a:ext>
            </a:extLst>
          </p:cNvPr>
          <p:cNvSpPr txBox="1"/>
          <p:nvPr/>
        </p:nvSpPr>
        <p:spPr>
          <a:xfrm>
            <a:off x="227228" y="483177"/>
            <a:ext cx="61356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The Ask</a:t>
            </a:r>
          </a:p>
        </p:txBody>
      </p:sp>
      <p:sp>
        <p:nvSpPr>
          <p:cNvPr id="10" name="Rounded Rectangle 25">
            <a:extLst>
              <a:ext uri="{FF2B5EF4-FFF2-40B4-BE49-F238E27FC236}">
                <a16:creationId xmlns:a16="http://schemas.microsoft.com/office/drawing/2014/main" id="{D2E88D13-559D-AF0B-4E5C-141F83CE0203}"/>
              </a:ext>
            </a:extLst>
          </p:cNvPr>
          <p:cNvSpPr/>
          <p:nvPr/>
        </p:nvSpPr>
        <p:spPr>
          <a:xfrm>
            <a:off x="227228" y="4146060"/>
            <a:ext cx="11344754" cy="1613324"/>
          </a:xfrm>
          <a:prstGeom prst="roundRect">
            <a:avLst/>
          </a:prstGeom>
          <a:solidFill>
            <a:srgbClr val="101724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37B18D-E03C-14D8-C69A-D77F9D5B4013}"/>
              </a:ext>
            </a:extLst>
          </p:cNvPr>
          <p:cNvSpPr txBox="1"/>
          <p:nvPr/>
        </p:nvSpPr>
        <p:spPr>
          <a:xfrm>
            <a:off x="321715" y="4815917"/>
            <a:ext cx="2605719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000" b="1" dirty="0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en-US" sz="2000" b="1" dirty="0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ELSE:</a:t>
            </a:r>
            <a:endParaRPr sz="2000" b="1" dirty="0">
              <a:solidFill>
                <a:srgbClr val="C8102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7C2EF2-FC3B-8A84-C135-6BFF52939124}"/>
              </a:ext>
            </a:extLst>
          </p:cNvPr>
          <p:cNvSpPr txBox="1"/>
          <p:nvPr/>
        </p:nvSpPr>
        <p:spPr>
          <a:xfrm>
            <a:off x="1962103" y="4692806"/>
            <a:ext cx="955891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Competitors are already utilizing cleaner label. We need to push enzyme-based. Prioritize education and marketing for our operators so they don’t get left behind.</a:t>
            </a:r>
            <a:endParaRPr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36BD09-F858-E408-4D96-562A8A6530B7}"/>
              </a:ext>
            </a:extLst>
          </p:cNvPr>
          <p:cNvSpPr txBox="1"/>
          <p:nvPr/>
        </p:nvSpPr>
        <p:spPr>
          <a:xfrm>
            <a:off x="227228" y="1129508"/>
            <a:ext cx="6172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</a:t>
            </a:r>
          </a:p>
        </p:txBody>
      </p:sp>
    </p:spTree>
    <p:extLst>
      <p:ext uri="{BB962C8B-B14F-4D97-AF65-F5344CB8AC3E}">
        <p14:creationId xmlns:p14="http://schemas.microsoft.com/office/powerpoint/2010/main" val="1870498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49303" y="706649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M</a:t>
            </a:r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ethodology </a:t>
            </a:r>
            <a:endParaRPr sz="28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9303" y="1510202"/>
            <a:ext cx="12637357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  <a:latin typeface="Times New Roman"/>
              </a:rPr>
              <a:t>The ranking methodology used six lenses; they all play an important role in prioritizing these metros</a:t>
            </a:r>
            <a:endParaRPr sz="2000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9303" y="5868197"/>
            <a:ext cx="104241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The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model explains the order; the recommendation explains what to do with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9303" y="6473769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4C64BFD-54B1-5681-52ED-B2A553ED4028}"/>
              </a:ext>
            </a:extLst>
          </p:cNvPr>
          <p:cNvSpPr/>
          <p:nvPr/>
        </p:nvSpPr>
        <p:spPr>
          <a:xfrm>
            <a:off x="1" y="-13456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89AC819C-4A5C-908B-08F4-FBE9FF2784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136526"/>
              </p:ext>
            </p:extLst>
          </p:nvPr>
        </p:nvGraphicFramePr>
        <p:xfrm>
          <a:off x="1958682" y="2351493"/>
          <a:ext cx="7522764" cy="2746086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75733">
                  <a:extLst>
                    <a:ext uri="{9D8B030D-6E8A-4147-A177-3AD203B41FA5}">
                      <a16:colId xmlns:a16="http://schemas.microsoft.com/office/drawing/2014/main" val="2865624217"/>
                    </a:ext>
                  </a:extLst>
                </a:gridCol>
                <a:gridCol w="2463520">
                  <a:extLst>
                    <a:ext uri="{9D8B030D-6E8A-4147-A177-3AD203B41FA5}">
                      <a16:colId xmlns:a16="http://schemas.microsoft.com/office/drawing/2014/main" val="2566254608"/>
                    </a:ext>
                  </a:extLst>
                </a:gridCol>
                <a:gridCol w="4083511">
                  <a:extLst>
                    <a:ext uri="{9D8B030D-6E8A-4147-A177-3AD203B41FA5}">
                      <a16:colId xmlns:a16="http://schemas.microsoft.com/office/drawing/2014/main" val="874061064"/>
                    </a:ext>
                  </a:extLst>
                </a:gridCol>
              </a:tblGrid>
              <a:tr h="46471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423622"/>
                  </a:ext>
                </a:extLst>
              </a:tr>
              <a:tr h="47601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587566"/>
                  </a:ext>
                </a:extLst>
              </a:tr>
              <a:tr h="47601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960939"/>
                  </a:ext>
                </a:extLst>
              </a:tr>
              <a:tr h="41416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6959928"/>
                  </a:ext>
                </a:extLst>
              </a:tr>
              <a:tr h="439169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282786"/>
                  </a:ext>
                </a:extLst>
              </a:tr>
              <a:tr h="47601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67432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79141" y="2430913"/>
            <a:ext cx="184924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Market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0192" y="2430913"/>
            <a:ext cx="390121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Houston wins the TAM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8122" y="2901153"/>
            <a:ext cx="1651558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Trajectory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0512" y="2908566"/>
            <a:ext cx="390121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Houston and Atlanta show momentum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024" y="3396054"/>
            <a:ext cx="1450119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Market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71976" y="3392671"/>
            <a:ext cx="390121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DFW and Tampa show urgency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063" y="3827770"/>
            <a:ext cx="141204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Future growth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9947" y="3827770"/>
            <a:ext cx="390121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Phoenix has long-run defense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4043" y="4259486"/>
            <a:ext cx="1128083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HQ inflow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1977" y="4262869"/>
            <a:ext cx="390121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DFW and Atlanta gain relevance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2409" y="4691202"/>
            <a:ext cx="168073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Transport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0064" y="4694328"/>
            <a:ext cx="390121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DFW and Phoenix have logistics advantage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65286" y="4721018"/>
            <a:ext cx="724511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10%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83066" y="2441961"/>
            <a:ext cx="724511" cy="25603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30%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65286" y="2913073"/>
            <a:ext cx="724511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65286" y="3406762"/>
            <a:ext cx="724511" cy="25603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65286" y="3841331"/>
            <a:ext cx="724511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15%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65285" y="4270584"/>
            <a:ext cx="724511" cy="25603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10%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9699D-C9FA-6AE1-C028-93EEE56E4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21C9EA-F458-A327-5CEF-D0CB47D1975F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BA9D88-7D8F-5F4D-A339-850BC2425D0F}"/>
              </a:ext>
            </a:extLst>
          </p:cNvPr>
          <p:cNvSpPr txBox="1"/>
          <p:nvPr/>
        </p:nvSpPr>
        <p:spPr>
          <a:xfrm>
            <a:off x="249303" y="686687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Scoring Breakdown</a:t>
            </a:r>
            <a:endParaRPr sz="28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5E1D5B-BA3E-B90A-CF53-8DB98C5AC29A}"/>
              </a:ext>
            </a:extLst>
          </p:cNvPr>
          <p:cNvSpPr txBox="1"/>
          <p:nvPr/>
        </p:nvSpPr>
        <p:spPr>
          <a:xfrm>
            <a:off x="262238" y="1617649"/>
            <a:ext cx="10789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The full model used six lenses; this version shows why the answer holds without turning the slide into a spreadsheet.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A0FA394-15B4-FD9C-7F98-B6DB73D933EF}"/>
              </a:ext>
            </a:extLst>
          </p:cNvPr>
          <p:cNvSpPr/>
          <p:nvPr/>
        </p:nvSpPr>
        <p:spPr>
          <a:xfrm>
            <a:off x="262238" y="2275360"/>
            <a:ext cx="3337560" cy="2965798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0568D9-7093-184F-1E5F-16AF82ADC931}"/>
              </a:ext>
            </a:extLst>
          </p:cNvPr>
          <p:cNvSpPr txBox="1"/>
          <p:nvPr/>
        </p:nvSpPr>
        <p:spPr>
          <a:xfrm>
            <a:off x="683281" y="2402479"/>
            <a:ext cx="2560320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Times New Roman"/>
              </a:rPr>
              <a:t>Composite order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FA69B7-709A-F402-FB93-E218D66076FF}"/>
              </a:ext>
            </a:extLst>
          </p:cNvPr>
          <p:cNvSpPr txBox="1"/>
          <p:nvPr/>
        </p:nvSpPr>
        <p:spPr>
          <a:xfrm>
            <a:off x="570428" y="2793484"/>
            <a:ext cx="697650" cy="2369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300" b="1" dirty="0">
                <a:solidFill>
                  <a:srgbClr val="FFFFFF"/>
                </a:solidFill>
                <a:latin typeface="Times New Roman"/>
              </a:rPr>
              <a:t>Houston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29FAFCE-4D27-36A1-D560-C86C5C0163DA}"/>
              </a:ext>
            </a:extLst>
          </p:cNvPr>
          <p:cNvSpPr/>
          <p:nvPr/>
        </p:nvSpPr>
        <p:spPr>
          <a:xfrm>
            <a:off x="1797273" y="2829618"/>
            <a:ext cx="1417320" cy="17141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08E09C-3524-DCD3-DA1C-DB6A2D532E74}"/>
              </a:ext>
            </a:extLst>
          </p:cNvPr>
          <p:cNvSpPr txBox="1"/>
          <p:nvPr/>
        </p:nvSpPr>
        <p:spPr>
          <a:xfrm>
            <a:off x="2906234" y="2802459"/>
            <a:ext cx="433081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100" b="0" dirty="0">
                <a:solidFill>
                  <a:srgbClr val="FFFFFF"/>
                </a:solidFill>
                <a:latin typeface="Times New Roman"/>
              </a:rPr>
              <a:t>4.35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96492C-A4B3-1191-D8CD-E4C8339F815A}"/>
              </a:ext>
            </a:extLst>
          </p:cNvPr>
          <p:cNvSpPr txBox="1"/>
          <p:nvPr/>
        </p:nvSpPr>
        <p:spPr>
          <a:xfrm>
            <a:off x="570428" y="3229237"/>
            <a:ext cx="1097280" cy="2369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300" b="1" dirty="0">
                <a:solidFill>
                  <a:srgbClr val="FFFFFF"/>
                </a:solidFill>
                <a:latin typeface="Times New Roman"/>
              </a:rPr>
              <a:t>DFW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2BBCBE7-B03D-51A2-4630-E59DC3208700}"/>
              </a:ext>
            </a:extLst>
          </p:cNvPr>
          <p:cNvSpPr/>
          <p:nvPr/>
        </p:nvSpPr>
        <p:spPr>
          <a:xfrm>
            <a:off x="1797273" y="3277409"/>
            <a:ext cx="1417320" cy="168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462369-4A3E-044B-DD99-11E4C60829C3}"/>
              </a:ext>
            </a:extLst>
          </p:cNvPr>
          <p:cNvSpPr txBox="1"/>
          <p:nvPr/>
        </p:nvSpPr>
        <p:spPr>
          <a:xfrm>
            <a:off x="2913998" y="3254211"/>
            <a:ext cx="411480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100" b="0" dirty="0">
                <a:solidFill>
                  <a:srgbClr val="FFFFFF"/>
                </a:solidFill>
                <a:latin typeface="Times New Roman"/>
              </a:rPr>
              <a:t>3.95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C83578-672E-3321-D14F-9998A325B0D5}"/>
              </a:ext>
            </a:extLst>
          </p:cNvPr>
          <p:cNvSpPr txBox="1"/>
          <p:nvPr/>
        </p:nvSpPr>
        <p:spPr>
          <a:xfrm>
            <a:off x="566753" y="3709052"/>
            <a:ext cx="1097280" cy="2369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300" b="1" dirty="0">
                <a:solidFill>
                  <a:srgbClr val="FFFFFF"/>
                </a:solidFill>
                <a:latin typeface="Times New Roman"/>
              </a:rPr>
              <a:t>Atlanta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03223A-4707-867A-20C0-84CBA3A920EF}"/>
              </a:ext>
            </a:extLst>
          </p:cNvPr>
          <p:cNvSpPr/>
          <p:nvPr/>
        </p:nvSpPr>
        <p:spPr>
          <a:xfrm>
            <a:off x="1797272" y="3727372"/>
            <a:ext cx="1417319" cy="199137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FA52BC-CBBF-3597-C14B-90191069C5AF}"/>
              </a:ext>
            </a:extLst>
          </p:cNvPr>
          <p:cNvSpPr txBox="1"/>
          <p:nvPr/>
        </p:nvSpPr>
        <p:spPr>
          <a:xfrm>
            <a:off x="2920899" y="3716313"/>
            <a:ext cx="411480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100" b="0" dirty="0">
                <a:solidFill>
                  <a:srgbClr val="FFFFFF"/>
                </a:solidFill>
                <a:latin typeface="Times New Roman"/>
              </a:rPr>
              <a:t>3.50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6FDFA0-56C2-9C00-2D2C-2A599E284A22}"/>
              </a:ext>
            </a:extLst>
          </p:cNvPr>
          <p:cNvSpPr txBox="1"/>
          <p:nvPr/>
        </p:nvSpPr>
        <p:spPr>
          <a:xfrm>
            <a:off x="566753" y="4176395"/>
            <a:ext cx="1097280" cy="2369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300" b="1" dirty="0">
                <a:solidFill>
                  <a:srgbClr val="FFFFFF"/>
                </a:solidFill>
                <a:latin typeface="Times New Roman"/>
              </a:rPr>
              <a:t>Tampa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0BE94F5-1A6D-24A9-0866-08289DD2A0B7}"/>
              </a:ext>
            </a:extLst>
          </p:cNvPr>
          <p:cNvSpPr/>
          <p:nvPr/>
        </p:nvSpPr>
        <p:spPr>
          <a:xfrm>
            <a:off x="1797274" y="4217664"/>
            <a:ext cx="1417319" cy="199137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66F83A-162D-DF09-E2DF-004B4BEC8C2A}"/>
              </a:ext>
            </a:extLst>
          </p:cNvPr>
          <p:cNvSpPr txBox="1"/>
          <p:nvPr/>
        </p:nvSpPr>
        <p:spPr>
          <a:xfrm>
            <a:off x="2920899" y="4213049"/>
            <a:ext cx="411480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100" b="0" dirty="0">
                <a:solidFill>
                  <a:srgbClr val="FFFFFF"/>
                </a:solidFill>
                <a:latin typeface="Times New Roman"/>
              </a:rPr>
              <a:t>3.30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28E9A1-8D02-09BA-501A-691606A033F7}"/>
              </a:ext>
            </a:extLst>
          </p:cNvPr>
          <p:cNvSpPr txBox="1"/>
          <p:nvPr/>
        </p:nvSpPr>
        <p:spPr>
          <a:xfrm>
            <a:off x="570428" y="4639426"/>
            <a:ext cx="1097280" cy="2369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300" b="1" dirty="0">
                <a:solidFill>
                  <a:srgbClr val="FFFFFF"/>
                </a:solidFill>
                <a:latin typeface="Times New Roman"/>
              </a:rPr>
              <a:t>Phoenix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4DCCCA-0D80-711E-2B05-FE51DF0B3344}"/>
              </a:ext>
            </a:extLst>
          </p:cNvPr>
          <p:cNvSpPr/>
          <p:nvPr/>
        </p:nvSpPr>
        <p:spPr>
          <a:xfrm>
            <a:off x="1797274" y="4641753"/>
            <a:ext cx="1417321" cy="216961"/>
          </a:xfrm>
          <a:prstGeom prst="rect">
            <a:avLst/>
          </a:prstGeom>
          <a:solidFill>
            <a:srgbClr val="F7C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0C08CE-8F8E-A4A5-9B98-30AC4EFFD3FA}"/>
              </a:ext>
            </a:extLst>
          </p:cNvPr>
          <p:cNvSpPr txBox="1"/>
          <p:nvPr/>
        </p:nvSpPr>
        <p:spPr>
          <a:xfrm>
            <a:off x="2920899" y="4658032"/>
            <a:ext cx="411480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100" b="0" dirty="0">
                <a:solidFill>
                  <a:srgbClr val="FFFFFF"/>
                </a:solidFill>
                <a:latin typeface="Times New Roman"/>
              </a:rPr>
              <a:t>2.80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71962D-D446-911D-8964-9814BE8800AE}"/>
              </a:ext>
            </a:extLst>
          </p:cNvPr>
          <p:cNvSpPr txBox="1"/>
          <p:nvPr/>
        </p:nvSpPr>
        <p:spPr>
          <a:xfrm>
            <a:off x="249303" y="5868197"/>
            <a:ext cx="104241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The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model explains the order; the recommendation explains what to do with it.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76DB59-DFCD-44E3-6666-6638F290723E}"/>
              </a:ext>
            </a:extLst>
          </p:cNvPr>
          <p:cNvSpPr txBox="1"/>
          <p:nvPr/>
        </p:nvSpPr>
        <p:spPr>
          <a:xfrm>
            <a:off x="249303" y="6473769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A445435-C064-BB23-7B6E-B1D8B2052CF4}"/>
              </a:ext>
            </a:extLst>
          </p:cNvPr>
          <p:cNvSpPr/>
          <p:nvPr/>
        </p:nvSpPr>
        <p:spPr>
          <a:xfrm>
            <a:off x="1" y="-13456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0727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03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72D69EEE-2DEA-9C93-656A-91621527B9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776470"/>
              </p:ext>
            </p:extLst>
          </p:nvPr>
        </p:nvGraphicFramePr>
        <p:xfrm>
          <a:off x="324353" y="1669312"/>
          <a:ext cx="11116282" cy="4229637"/>
        </p:xfrm>
        <a:graphic>
          <a:graphicData uri="http://schemas.openxmlformats.org/drawingml/2006/table">
            <a:tbl>
              <a:tblPr/>
              <a:tblGrid>
                <a:gridCol w="791785">
                  <a:extLst>
                    <a:ext uri="{9D8B030D-6E8A-4147-A177-3AD203B41FA5}">
                      <a16:colId xmlns:a16="http://schemas.microsoft.com/office/drawing/2014/main" val="1223079190"/>
                    </a:ext>
                  </a:extLst>
                </a:gridCol>
                <a:gridCol w="2476592">
                  <a:extLst>
                    <a:ext uri="{9D8B030D-6E8A-4147-A177-3AD203B41FA5}">
                      <a16:colId xmlns:a16="http://schemas.microsoft.com/office/drawing/2014/main" val="2172930756"/>
                    </a:ext>
                  </a:extLst>
                </a:gridCol>
                <a:gridCol w="4588664">
                  <a:extLst>
                    <a:ext uri="{9D8B030D-6E8A-4147-A177-3AD203B41FA5}">
                      <a16:colId xmlns:a16="http://schemas.microsoft.com/office/drawing/2014/main" val="2605466661"/>
                    </a:ext>
                  </a:extLst>
                </a:gridCol>
                <a:gridCol w="3259241">
                  <a:extLst>
                    <a:ext uri="{9D8B030D-6E8A-4147-A177-3AD203B41FA5}">
                      <a16:colId xmlns:a16="http://schemas.microsoft.com/office/drawing/2014/main" val="3549477148"/>
                    </a:ext>
                  </a:extLst>
                </a:gridCol>
              </a:tblGrid>
              <a:tr h="82409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Houston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Index 49, 9M lb gap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Largest upside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312748"/>
                  </a:ext>
                </a:extLst>
              </a:tr>
              <a:tr h="82409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Dallas-Fort Worth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Healthy market, 5.3% growth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Rebuild momentum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117589"/>
                  </a:ext>
                </a:extLst>
              </a:tr>
              <a:tr h="82409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Atlanta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Southeast growth anchor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Expand coverage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809240"/>
                  </a:ext>
                </a:extLst>
              </a:tr>
              <a:tr h="82409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Tampa-St. Pete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Fastest growing top five metro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Build steadily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0815325"/>
                  </a:ext>
                </a:extLst>
              </a:tr>
              <a:tr h="93326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High-growth market opportunity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Strengthen position</a:t>
                      </a:r>
                    </a:p>
                  </a:txBody>
                  <a:tcPr marL="86065" marR="86065" marT="43033" marB="43033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41848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4353" y="597540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True 5</a:t>
            </a:r>
            <a:endParaRPr sz="28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24353" y="6416341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FCD0B0E-CF52-0C03-5706-EEB4F5EAE747}"/>
              </a:ext>
            </a:extLst>
          </p:cNvPr>
          <p:cNvSpPr/>
          <p:nvPr/>
        </p:nvSpPr>
        <p:spPr>
          <a:xfrm>
            <a:off x="1" y="-13456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04093" y="1708737"/>
            <a:ext cx="524081" cy="667209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#1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4092" y="2547784"/>
            <a:ext cx="524081" cy="667209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#2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4093" y="3380233"/>
            <a:ext cx="524081" cy="667209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#3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4093" y="4198396"/>
            <a:ext cx="524081" cy="667209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#4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4091" y="5049392"/>
            <a:ext cx="524081" cy="667209"/>
          </a:xfrm>
          <a:prstGeom prst="roundRect">
            <a:avLst/>
          </a:prstGeom>
          <a:solidFill>
            <a:srgbClr val="F7C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#5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32F292-1178-9CBF-6D9F-2B9301B6B70F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053BE-77B8-430D-ED9A-BE28BEF44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28" y="1297172"/>
            <a:ext cx="11243870" cy="52333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2C94483-B055-07CB-777E-DA4B213A3C20}"/>
              </a:ext>
            </a:extLst>
          </p:cNvPr>
          <p:cNvSpPr/>
          <p:nvPr/>
        </p:nvSpPr>
        <p:spPr>
          <a:xfrm>
            <a:off x="1" y="-13456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457F4A-819B-03E3-83A6-8F970BF093E8}"/>
              </a:ext>
            </a:extLst>
          </p:cNvPr>
          <p:cNvSpPr txBox="1"/>
          <p:nvPr/>
        </p:nvSpPr>
        <p:spPr>
          <a:xfrm>
            <a:off x="218027" y="409391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Reading the Map</a:t>
            </a:r>
            <a:endParaRPr sz="28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F0A242-5908-7E2A-C904-FFC918F563FE}"/>
              </a:ext>
            </a:extLst>
          </p:cNvPr>
          <p:cNvSpPr txBox="1"/>
          <p:nvPr/>
        </p:nvSpPr>
        <p:spPr>
          <a:xfrm>
            <a:off x="218027" y="892167"/>
            <a:ext cx="10789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Utilize the legend on the left to filter by scored metros. Click on any colored circle for a detailed breakdown of that metro.</a:t>
            </a:r>
            <a:endParaRPr sz="1600" b="1" dirty="0">
              <a:solidFill>
                <a:srgbClr val="FFFFFF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18777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24577-8B9B-3E63-35CC-FDE11E23C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AA8241-921E-7067-81F4-EDFCF9098B50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E508C4-5D84-536F-84B9-D9DFF9B70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28" y="1297172"/>
            <a:ext cx="11243870" cy="52333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672CA1B-FD97-58FA-0286-63FEE5F58BFA}"/>
              </a:ext>
            </a:extLst>
          </p:cNvPr>
          <p:cNvSpPr/>
          <p:nvPr/>
        </p:nvSpPr>
        <p:spPr>
          <a:xfrm>
            <a:off x="1" y="-13456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8892EE-77C4-F5F4-800A-759E5DB8EAFB}"/>
              </a:ext>
            </a:extLst>
          </p:cNvPr>
          <p:cNvSpPr txBox="1"/>
          <p:nvPr/>
        </p:nvSpPr>
        <p:spPr>
          <a:xfrm>
            <a:off x="218027" y="409391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Utilizing the Tooltip</a:t>
            </a:r>
            <a:endParaRPr sz="28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04B5B-1095-6917-36CC-02F0E8DC1FEE}"/>
              </a:ext>
            </a:extLst>
          </p:cNvPr>
          <p:cNvSpPr txBox="1"/>
          <p:nvPr/>
        </p:nvSpPr>
        <p:spPr>
          <a:xfrm>
            <a:off x="218027" y="892167"/>
            <a:ext cx="10789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Utilize the legend on the left to filter by scored metros. Click on any colored circle for a detailed breakdown of that metro.</a:t>
            </a:r>
            <a:endParaRPr sz="1600" b="1" dirty="0">
              <a:solidFill>
                <a:srgbClr val="FFFFFF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41553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55539" y="823003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5539" y="1502338"/>
            <a:ext cx="1069848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South creates the runway; the West explains the defense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5539" y="2363804"/>
            <a:ext cx="2468880" cy="2198394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9101" y="2733398"/>
            <a:ext cx="2049637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NORTHEAST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849" y="3218030"/>
            <a:ext cx="2096219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347M lbs · 56.4% GMI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401" y="3583790"/>
            <a:ext cx="1863305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751" y="4036573"/>
            <a:ext cx="195647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67" y="2363804"/>
            <a:ext cx="2468880" cy="2198394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82029" y="2733398"/>
            <a:ext cx="2049637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2000" b="1" dirty="0">
                <a:solidFill>
                  <a:srgbClr val="22C5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4777" y="3218030"/>
            <a:ext cx="2096219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244M lbs · 22.7% GMI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9329" y="3583790"/>
            <a:ext cx="1863305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 dirty="0">
                <a:solidFill>
                  <a:srgbClr val="22C5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+5.5%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678" y="4036573"/>
            <a:ext cx="195647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395" y="2363804"/>
            <a:ext cx="2468880" cy="2198394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34957" y="2733398"/>
            <a:ext cx="2049637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2000" b="1" dirty="0">
                <a:solidFill>
                  <a:srgbClr val="22C5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7705" y="3218030"/>
            <a:ext cx="2096219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794M lbs · 28.6% GMI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2257" y="3583790"/>
            <a:ext cx="1863305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>
                <a:solidFill>
                  <a:srgbClr val="22C5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+5.1%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8607" y="4040680"/>
            <a:ext cx="195647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frontier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4323" y="2363804"/>
            <a:ext cx="2468880" cy="2198394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287885" y="2733398"/>
            <a:ext cx="2049637" cy="4062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2400" b="1" dirty="0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0633" y="3218030"/>
            <a:ext cx="2096219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380M lbs · 35.4% GMI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5185" y="3583790"/>
            <a:ext cx="1863305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95" y="4031536"/>
            <a:ext cx="195647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pressure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71" y="4946284"/>
            <a:ext cx="11027664" cy="1252728"/>
          </a:xfrm>
          <a:prstGeom prst="roundRect">
            <a:avLst/>
          </a:prstGeom>
          <a:solidFill>
            <a:srgbClr val="101724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7459" y="5415682"/>
            <a:ext cx="2532888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b="1" dirty="0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THIS MEANS</a:t>
            </a:r>
            <a:r>
              <a:rPr lang="en-US" b="1" dirty="0">
                <a:solidFill>
                  <a:srgbClr val="C810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b="1" dirty="0">
              <a:solidFill>
                <a:srgbClr val="C8102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51851" y="5277182"/>
            <a:ext cx="8531352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Houston, DFW, Atlanta, and Tampa sit in the South’s open runway; Phoenix is a West defense play where strong AE execution is fighting the regional headwind.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259" y="6455664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Flour Frontier · NAF </a:t>
            </a: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· FSI </a:t>
            </a:r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· Jake Gilstein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1DE4E4-2D81-34CD-CE66-240C28949087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35366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37690"/>
            <a:ext cx="11960352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/>
              </a:rPr>
              <a:t>Houston is the largest </a:t>
            </a:r>
            <a:r>
              <a:rPr lang="en-US" sz="2800" b="1" dirty="0">
                <a:solidFill>
                  <a:srgbClr val="FFFFFF"/>
                </a:solidFill>
                <a:latin typeface="Times New Roman"/>
              </a:rPr>
              <a:t>opportunity,</a:t>
            </a:r>
            <a:r>
              <a:rPr sz="2800" b="1" dirty="0">
                <a:solidFill>
                  <a:srgbClr val="FFFFFF"/>
                </a:solidFill>
                <a:latin typeface="Times New Roman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Times New Roman"/>
              </a:rPr>
              <a:t>but t</a:t>
            </a:r>
            <a:r>
              <a:rPr sz="2800" b="1" dirty="0">
                <a:solidFill>
                  <a:srgbClr val="FFFFFF"/>
                </a:solidFill>
                <a:latin typeface="Times New Roman"/>
              </a:rPr>
              <a:t>he barrier is price and proximity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9116" y="1910968"/>
            <a:ext cx="3213348" cy="3163952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857" y="2204664"/>
            <a:ext cx="2811680" cy="132959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4200" b="1" dirty="0">
                <a:solidFill>
                  <a:srgbClr val="C8102E"/>
                </a:solidFill>
                <a:latin typeface="Times New Roman"/>
              </a:rPr>
              <a:t>60.3M</a:t>
            </a:r>
            <a:r>
              <a:rPr lang="en-US" sz="4200" b="1" dirty="0">
                <a:solidFill>
                  <a:srgbClr val="C8102E"/>
                </a:solidFill>
                <a:latin typeface="Times New Roman"/>
              </a:rPr>
              <a:t> </a:t>
            </a:r>
            <a:r>
              <a:rPr lang="en-US" sz="4200" b="1" dirty="0" err="1">
                <a:solidFill>
                  <a:srgbClr val="C8102E"/>
                </a:solidFill>
                <a:latin typeface="Times New Roman"/>
              </a:rPr>
              <a:t>lb</a:t>
            </a:r>
            <a:r>
              <a:rPr lang="en-US" sz="4200" b="1" dirty="0">
                <a:solidFill>
                  <a:srgbClr val="C8102E"/>
                </a:solidFill>
                <a:latin typeface="Times New Roman"/>
              </a:rPr>
              <a:t> market</a:t>
            </a:r>
            <a:endParaRPr sz="42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7153" y="3710705"/>
            <a:ext cx="2630928" cy="56015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700" b="1" dirty="0">
                <a:solidFill>
                  <a:srgbClr val="FFFFFF"/>
                </a:solidFill>
                <a:latin typeface="Times New Roman"/>
              </a:rPr>
              <a:t>~9M </a:t>
            </a:r>
            <a:r>
              <a:rPr sz="1700" b="1" dirty="0" err="1">
                <a:solidFill>
                  <a:srgbClr val="FFFFFF"/>
                </a:solidFill>
                <a:latin typeface="Times New Roman"/>
              </a:rPr>
              <a:t>lbs</a:t>
            </a:r>
            <a:r>
              <a:rPr sz="1700" b="1" dirty="0">
                <a:solidFill>
                  <a:srgbClr val="FFFFFF"/>
                </a:solidFill>
                <a:latin typeface="Times New Roman"/>
              </a:rPr>
              <a:t> upside to national parity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2016" y="4508436"/>
            <a:ext cx="2460219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500" b="0" dirty="0">
                <a:solidFill>
                  <a:srgbClr val="FFFFFF"/>
                </a:solidFill>
                <a:latin typeface="Times New Roman"/>
              </a:rPr>
              <a:t>Ardent is in-market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53846" y="2272255"/>
            <a:ext cx="1463038" cy="2743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261264"/>
            <a:ext cx="6035040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800" b="1" dirty="0">
                <a:solidFill>
                  <a:srgbClr val="FFFFFF"/>
                </a:solidFill>
                <a:latin typeface="Times New Roman"/>
              </a:rPr>
              <a:t>Largest accessible gap in the </a:t>
            </a:r>
            <a:r>
              <a:rPr lang="en-US" b="1" dirty="0">
                <a:solidFill>
                  <a:srgbClr val="FFFFFF"/>
                </a:solidFill>
                <a:latin typeface="Times New Roman"/>
              </a:rPr>
              <a:t>top</a:t>
            </a:r>
            <a:r>
              <a:rPr sz="1800" b="1" dirty="0">
                <a:solidFill>
                  <a:srgbClr val="FFFFFF"/>
                </a:solidFill>
                <a:latin typeface="Times New Roman"/>
              </a:rPr>
              <a:t> 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53846" y="3635161"/>
            <a:ext cx="1463038" cy="2743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Barrier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76903" y="3508237"/>
            <a:ext cx="5829299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800" b="1" dirty="0">
                <a:solidFill>
                  <a:srgbClr val="FFFFFF"/>
                </a:solidFill>
                <a:latin typeface="Times New Roman"/>
              </a:rPr>
              <a:t>Demand is real; mill proximity and price competitiveness limit the close.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53846" y="5074919"/>
            <a:ext cx="1463038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Next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6903" y="4946131"/>
            <a:ext cx="5623558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800" b="1" dirty="0">
                <a:solidFill>
                  <a:srgbClr val="FFFFFF"/>
                </a:solidFill>
                <a:latin typeface="Times New Roman"/>
              </a:rPr>
              <a:t>Build low-to-mid protein pricing and operator targets with Gus Patrick.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117" y="5842519"/>
            <a:ext cx="10332720" cy="29854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Times New Roman"/>
              </a:rPr>
              <a:t>Do </a:t>
            </a:r>
            <a:r>
              <a:rPr sz="1700" b="1" dirty="0">
                <a:solidFill>
                  <a:srgbClr val="FFFFFF"/>
                </a:solidFill>
                <a:latin typeface="Times New Roman"/>
              </a:rPr>
              <a:t>not oversell Houston as easy</a:t>
            </a:r>
            <a:r>
              <a:rPr lang="en-US" sz="1700" b="1" dirty="0">
                <a:solidFill>
                  <a:srgbClr val="FFFFFF"/>
                </a:solidFill>
                <a:latin typeface="Times New Roman"/>
              </a:rPr>
              <a:t>. S</a:t>
            </a:r>
            <a:r>
              <a:rPr sz="1700" b="1" dirty="0">
                <a:solidFill>
                  <a:srgbClr val="FFFFFF"/>
                </a:solidFill>
                <a:latin typeface="Times New Roman"/>
              </a:rPr>
              <a:t>ell it as the biggest gap worth building a real case around.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D4F725-144B-9E20-BAF8-017CDB8958AA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64489" y="664309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TEXAS </a:t>
            </a:r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&amp;</a:t>
            </a:r>
            <a:r>
              <a:rPr sz="2800" b="1" dirty="0">
                <a:solidFill>
                  <a:srgbClr val="C8102E"/>
                </a:solidFill>
                <a:latin typeface="Times New Roman"/>
              </a:rPr>
              <a:t> DFW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63912"/>
            <a:ext cx="1069848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/>
              </a:rPr>
              <a:t>Texas should be rebuilt around the market, not around one bid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7489" y="2068538"/>
            <a:ext cx="822960" cy="2743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Times New Roman"/>
              </a:rPr>
              <a:t>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1377" y="2471914"/>
            <a:ext cx="2834640" cy="1417320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2837" y="2642722"/>
            <a:ext cx="233172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1" dirty="0">
                <a:solidFill>
                  <a:srgbClr val="FFFFFF"/>
                </a:solidFill>
                <a:latin typeface="Times New Roman"/>
              </a:rPr>
              <a:t>Protect what is holding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2714" y="2944970"/>
            <a:ext cx="2051965" cy="77559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Branded flour and distributor momentum remain the base.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83177" y="3066274"/>
            <a:ext cx="50292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51957" y="2070086"/>
            <a:ext cx="822960" cy="2743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Times New Roman"/>
              </a:rPr>
              <a:t>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977" y="2471914"/>
            <a:ext cx="2834640" cy="1417320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14697" y="2638500"/>
            <a:ext cx="2788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Build second-source credibility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8775" y="2988826"/>
            <a:ext cx="1800764" cy="77559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Low-to-mid protein fit, tortilla gaps, and service reliability.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40777" y="3066274"/>
            <a:ext cx="50292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32417" y="2076139"/>
            <a:ext cx="822960" cy="274320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Times New Roman"/>
              </a:rPr>
              <a:t>FY28</a:t>
            </a:r>
            <a:endParaRPr sz="2000"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026577" y="2471914"/>
            <a:ext cx="2834640" cy="1417320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53585" y="2642722"/>
            <a:ext cx="233172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1" dirty="0">
                <a:solidFill>
                  <a:srgbClr val="FFFFFF"/>
                </a:solidFill>
                <a:latin typeface="Times New Roman"/>
              </a:rPr>
              <a:t>Prepare rebid posture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0187" y="3070432"/>
            <a:ext cx="1918515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Be ready when the next cycle opens.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465" y="4442683"/>
            <a:ext cx="10149840" cy="1118385"/>
          </a:xfrm>
          <a:prstGeom prst="roundRect">
            <a:avLst/>
          </a:prstGeom>
          <a:solidFill>
            <a:srgbClr val="101724"/>
          </a:solidFill>
          <a:ln w="12700">
            <a:solidFill>
              <a:srgbClr val="46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6142" y="4761247"/>
            <a:ext cx="2745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SO WHAT</a:t>
            </a:r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:</a:t>
            </a:r>
            <a:endParaRPr sz="2800" b="1" dirty="0">
              <a:solidFill>
                <a:srgbClr val="C8102E"/>
              </a:solidFill>
              <a:latin typeface="Times New Roman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58765" y="4696849"/>
            <a:ext cx="8176547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Times New Roman"/>
              </a:rPr>
              <a:t>Protect our </a:t>
            </a:r>
            <a:r>
              <a:rPr b="1" dirty="0">
                <a:solidFill>
                  <a:srgbClr val="FFFFFF"/>
                </a:solidFill>
                <a:latin typeface="Times New Roman"/>
              </a:rPr>
              <a:t>branded share</a:t>
            </a:r>
            <a:r>
              <a:rPr lang="en-US" b="1" dirty="0">
                <a:solidFill>
                  <a:srgbClr val="FFFFFF"/>
                </a:solidFill>
                <a:latin typeface="Times New Roman"/>
              </a:rPr>
              <a:t> </a:t>
            </a:r>
            <a:r>
              <a:rPr b="1" dirty="0">
                <a:solidFill>
                  <a:srgbClr val="FFFFFF"/>
                </a:solidFill>
                <a:latin typeface="Times New Roman"/>
              </a:rPr>
              <a:t>and</a:t>
            </a:r>
            <a:r>
              <a:rPr lang="en-US" b="1" dirty="0">
                <a:solidFill>
                  <a:srgbClr val="FFFFFF"/>
                </a:solidFill>
                <a:latin typeface="Times New Roman"/>
              </a:rPr>
              <a:t> get ready to move into cleaner label as bromate phases out. Focus on growth and product fit, not our loss on Sysco bid.</a:t>
            </a:r>
            <a:endParaRPr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50545C-6483-223D-A29D-A76375FEF161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94935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SOUTHEAST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010412"/>
            <a:ext cx="1069848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/>
              </a:rPr>
              <a:t>The Southeast has the clearest network support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1613916"/>
            <a:ext cx="107899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500" b="0" dirty="0">
                <a:solidFill>
                  <a:srgbClr val="FFFFFF"/>
                </a:solidFill>
                <a:latin typeface="Times New Roman"/>
              </a:rPr>
              <a:t>Atlanta is the most defensible warehouse question; Tampa is the long-haul growth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2157985"/>
            <a:ext cx="4545419" cy="3456006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5780" y="2313810"/>
            <a:ext cx="39319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2100" b="1" dirty="0">
                <a:solidFill>
                  <a:srgbClr val="22C55E"/>
                </a:solidFill>
                <a:latin typeface="Times New Roman"/>
              </a:rPr>
              <a:t>Atlanta warehouse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401645" y="2965096"/>
            <a:ext cx="578677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 dirty="0">
                <a:solidFill>
                  <a:srgbClr val="FFFFFF"/>
                </a:solidFill>
                <a:latin typeface="Times New Roman"/>
              </a:rPr>
              <a:t>Evaluate cost-to-serve impact across Southeast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" y="3682564"/>
            <a:ext cx="640080" cy="2743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ATL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4162" y="3678147"/>
            <a:ext cx="10515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Atlanta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6545" y="3682564"/>
            <a:ext cx="640080" cy="2743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TPA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3678147"/>
            <a:ext cx="10515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Tampa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" y="4677155"/>
            <a:ext cx="64008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Times New Roman"/>
              </a:rPr>
              <a:t>CHA</a:t>
            </a:r>
            <a:endParaRPr sz="1500"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09741" y="4677155"/>
            <a:ext cx="10515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Charlotte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457" y="4665352"/>
            <a:ext cx="675168" cy="274320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NSH</a:t>
            </a:r>
            <a:endParaRPr sz="1600"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52800" y="4677155"/>
            <a:ext cx="10515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Nashville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7275" y="2577076"/>
            <a:ext cx="1616147" cy="343759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Proof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9058" y="2474636"/>
            <a:ext cx="2951384" cy="56015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1" dirty="0">
                <a:solidFill>
                  <a:srgbClr val="FFFFFF"/>
                </a:solidFill>
                <a:latin typeface="Times New Roman"/>
              </a:rPr>
              <a:t>Orlando shows what closer support can do in Florida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37275" y="3611241"/>
            <a:ext cx="1616148" cy="3602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GFS lane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9058" y="3525907"/>
            <a:ext cx="3995180" cy="56015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1" dirty="0">
                <a:solidFill>
                  <a:srgbClr val="FFFFFF"/>
                </a:solidFill>
                <a:latin typeface="Times New Roman"/>
              </a:rPr>
              <a:t>Shepherdsville momentum makes Atlanta worth pressure-testing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37275" y="4813677"/>
            <a:ext cx="1616148" cy="3602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Looking ahead</a:t>
            </a:r>
            <a:endParaRPr sz="1600"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29058" y="4713730"/>
            <a:ext cx="3995180" cy="56015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1" dirty="0">
                <a:solidFill>
                  <a:srgbClr val="FFFFFF"/>
                </a:solidFill>
                <a:latin typeface="Times New Roman"/>
              </a:rPr>
              <a:t>Evaluate Atlanta WH and Florida toll-mill feasibility without new GM mill capex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6429375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6E09F7-261E-7832-E728-6F6037CFD40E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38089" y="719322"/>
            <a:ext cx="452628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WEST </a:t>
            </a:r>
            <a:r>
              <a:rPr lang="en-US" sz="2800" b="1" dirty="0">
                <a:solidFill>
                  <a:srgbClr val="C8102E"/>
                </a:solidFill>
                <a:latin typeface="Times New Roman"/>
              </a:rPr>
              <a:t>&amp;</a:t>
            </a:r>
            <a:r>
              <a:rPr sz="2800" b="1" dirty="0">
                <a:solidFill>
                  <a:srgbClr val="C8102E"/>
                </a:solidFill>
                <a:latin typeface="Times New Roman"/>
              </a:rPr>
              <a:t> FIELD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8089" y="1487166"/>
            <a:ext cx="1069848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/>
              </a:rPr>
              <a:t>The field changed the answer from map-driven to execution-driven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16" y="2325363"/>
            <a:ext cx="10789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Phoenix is the anchor, but portfolio fit and relationship-led markets decide where growth is realistic.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8089" y="2838018"/>
            <a:ext cx="5527542" cy="2658483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F7C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7862" y="2847934"/>
            <a:ext cx="469841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2800" b="1" dirty="0">
                <a:solidFill>
                  <a:srgbClr val="F7C61E"/>
                </a:solidFill>
                <a:latin typeface="Times New Roman"/>
              </a:rPr>
              <a:t>WEST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5672" y="3314699"/>
            <a:ext cx="4202789" cy="5943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Times New Roman"/>
              </a:rPr>
              <a:t>Phoenix remains the anchor; Vernon service advantage helps defend the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807" y="4032822"/>
            <a:ext cx="3592902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Times New Roman"/>
              </a:rPr>
              <a:t>PHX anchor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5823" y="4486240"/>
            <a:ext cx="3592902" cy="2743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Times New Roman"/>
              </a:rPr>
              <a:t>Shamrock bellwether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5823" y="4963848"/>
            <a:ext cx="3592902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Times New Roman"/>
              </a:rPr>
              <a:t>LAS / SLC underdeveloped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151" y="2847933"/>
            <a:ext cx="4012309" cy="2648567"/>
          </a:xfrm>
          <a:prstGeom prst="roundRect">
            <a:avLst/>
          </a:prstGeom>
          <a:solidFill>
            <a:srgbClr val="101724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63321" y="2799982"/>
            <a:ext cx="3339253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000" b="1" dirty="0">
                <a:solidFill>
                  <a:srgbClr val="FFFFFF"/>
                </a:solidFill>
                <a:latin typeface="Times New Roman"/>
              </a:rPr>
              <a:t>Recurring AE themes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8115" y="3144046"/>
            <a:ext cx="1290062" cy="688295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8035655" y="3134443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Freight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5655" y="3587558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0" dirty="0">
                <a:solidFill>
                  <a:srgbClr val="FFFFFF"/>
                </a:solidFill>
                <a:latin typeface="Times New Roman"/>
              </a:rPr>
              <a:t>cost-to-serve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32948" y="3120862"/>
            <a:ext cx="1290062" cy="688295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0311133" y="3137573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Distributor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22189" y="3586777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0" dirty="0">
                <a:solidFill>
                  <a:srgbClr val="FFFFFF"/>
                </a:solidFill>
                <a:latin typeface="Times New Roman"/>
              </a:rPr>
              <a:t>access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2216" y="3881608"/>
            <a:ext cx="1290062" cy="688295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9346" y="3867768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Clean-label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9345" y="4330691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0" dirty="0">
                <a:solidFill>
                  <a:srgbClr val="FFFFFF"/>
                </a:solidFill>
                <a:latin typeface="Times New Roman"/>
              </a:rPr>
              <a:t>transition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32948" y="4605330"/>
            <a:ext cx="1290062" cy="688295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29738" y="4603898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3→2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9738" y="5045665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0" dirty="0">
                <a:solidFill>
                  <a:srgbClr val="FFFFFF"/>
                </a:solidFill>
                <a:latin typeface="Times New Roman"/>
              </a:rPr>
              <a:t>direct minimum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788" y="4611172"/>
            <a:ext cx="1290062" cy="688295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00585" y="4610572"/>
            <a:ext cx="113369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/>
              </a:rPr>
              <a:t>Product 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4483" y="4984554"/>
            <a:ext cx="1448407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Times New Roman"/>
              </a:rPr>
              <a:t>e</a:t>
            </a:r>
            <a:r>
              <a:rPr sz="1200" b="0" dirty="0">
                <a:solidFill>
                  <a:srgbClr val="FFFFFF"/>
                </a:solidFill>
                <a:latin typeface="Times New Roman"/>
              </a:rPr>
              <a:t>nzyme</a:t>
            </a:r>
            <a:r>
              <a:rPr lang="en-US" sz="1200" b="0" dirty="0">
                <a:solidFill>
                  <a:srgbClr val="FFFFFF"/>
                </a:solidFill>
                <a:latin typeface="Times New Roman"/>
              </a:rPr>
              <a:t>/</a:t>
            </a:r>
            <a:r>
              <a:rPr sz="1200" b="0" dirty="0">
                <a:solidFill>
                  <a:srgbClr val="FFFFFF"/>
                </a:solidFill>
                <a:latin typeface="Times New Roman"/>
              </a:rPr>
              <a:t>untreated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0739" y="5801661"/>
            <a:ext cx="6877057" cy="29854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Times New Roman"/>
              </a:rPr>
              <a:t>Field </a:t>
            </a:r>
            <a:r>
              <a:rPr sz="1700" b="1" dirty="0">
                <a:solidFill>
                  <a:srgbClr val="FFFFFF"/>
                </a:solidFill>
                <a:latin typeface="Times New Roman"/>
              </a:rPr>
              <a:t>input made the recommendation more practical, not less analytical.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416" y="6487889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B520D17-5BD6-9232-E1F4-58158CFC2FB2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524466"/>
            <a:ext cx="4325285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7346"/>
            <a:ext cx="1069848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/>
              </a:rPr>
              <a:t>Five practical moves built for the network GMI 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88647"/>
            <a:ext cx="107899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500" b="0" dirty="0">
                <a:solidFill>
                  <a:srgbClr val="FFFFFF"/>
                </a:solidFill>
                <a:latin typeface="Times New Roman"/>
              </a:rPr>
              <a:t>The workstreams are intentionally operational: each one can be picked up without making the deck feel like a capital request.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408" y="2286107"/>
            <a:ext cx="3569402" cy="1170432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863576" y="2487276"/>
            <a:ext cx="366024" cy="25603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9628" y="2487276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Texas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9628" y="2770430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DFW + Houston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3" y="3072491"/>
            <a:ext cx="3264755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 what:</a:t>
            </a: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Rebuild current market</a:t>
            </a:r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8383" y="3281367"/>
            <a:ext cx="3246120" cy="1170432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819551" y="3482536"/>
            <a:ext cx="366024" cy="25603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8945" y="3474242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Southeast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4183" y="3765690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Atlanta</a:t>
            </a:r>
            <a:r>
              <a:rPr lang="en-US"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</a:t>
            </a:r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Tampa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7854" y="4067751"/>
            <a:ext cx="293782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 what: Lower cost-to-serve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51928" y="2286107"/>
            <a:ext cx="3246120" cy="1170432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53096" y="2487276"/>
            <a:ext cx="366024" cy="25603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7728" y="2487276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Houston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7728" y="2789027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Operator</a:t>
            </a:r>
            <a:r>
              <a:rPr lang="en-US"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</a:t>
            </a:r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0567" y="3072491"/>
            <a:ext cx="2359889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 what: Size biggest gap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408" y="4069188"/>
            <a:ext cx="3569402" cy="1170432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63577" y="4270355"/>
            <a:ext cx="366024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8209" y="4270355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West defense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8209" y="4572107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Phoenix + Vernon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274" y="4878887"/>
            <a:ext cx="3569402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 what:</a:t>
            </a: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Leverage new CAS presence</a:t>
            </a:r>
            <a:endParaRPr sz="16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251502" y="4064083"/>
            <a:ext cx="3419431" cy="1170432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F7C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452671" y="4265250"/>
            <a:ext cx="366024" cy="256032"/>
          </a:xfrm>
          <a:prstGeom prst="roundRect">
            <a:avLst/>
          </a:prstGeom>
          <a:solidFill>
            <a:srgbClr val="F7C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7303" y="4265250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Ethnic ISB’s</a:t>
            </a:r>
            <a:endParaRPr sz="16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37303" y="4567002"/>
            <a:ext cx="2119084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FSI AE’s</a:t>
            </a:r>
            <a:endParaRPr sz="1600" b="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626406" y="4850467"/>
            <a:ext cx="341943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 what: Scale repeatable lane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650992"/>
            <a:ext cx="1042416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Times New Roman"/>
              </a:rPr>
              <a:t>Final ask: align on the workstreams, then pressure-test owners, timing, and financial sizing after the panel.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4AFA888-EA8D-0B31-61BC-C5193F5D1B86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97608"/>
            <a:ext cx="3108960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C8102E"/>
                </a:solidFill>
                <a:latin typeface="Times New Roman"/>
              </a:rPr>
              <a:t>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40404"/>
            <a:ext cx="1069848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Times New Roman"/>
              </a:rPr>
              <a:t>The handoff is practical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5357"/>
            <a:ext cx="10789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Five workstreams the business can pick up next, sized to current resources.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19" y="5252096"/>
            <a:ext cx="10698481" cy="750887"/>
          </a:xfrm>
          <a:prstGeom prst="roundRect">
            <a:avLst/>
          </a:prstGeom>
          <a:solidFill>
            <a:srgbClr val="141D2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chemeClr val="tx1"/>
                </a:solidFill>
                <a:latin typeface="Times New Roman"/>
              </a:rPr>
              <a:t>CLOSING: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367413"/>
            <a:ext cx="9144000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lang="en-US" sz="1600" dirty="0">
                <a:solidFill>
                  <a:srgbClr val="FFFFFF"/>
                </a:solidFill>
                <a:latin typeface="Times New Roman"/>
              </a:rPr>
              <a:t> Change truck minimum from 3 to 2 (direct), target all ethnic ISB’s, specifically Hispanic. Move to cleaner label, ascorbic acid &amp; enzyme-based (All Trump’s Green focus). Need more marketing and presence for FSI.</a:t>
            </a:r>
            <a:endParaRPr sz="1600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19" y="6444286"/>
            <a:ext cx="53035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FFFFFF"/>
                </a:solidFill>
                <a:latin typeface="Times New Roman"/>
              </a:rPr>
              <a:t>Flour Frontier  ·  NAF FSI Intern Final  ·  Jake Gilstein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B3E7D91-92FB-A6E7-DF7D-666517B90C09}"/>
              </a:ext>
            </a:extLst>
          </p:cNvPr>
          <p:cNvSpPr/>
          <p:nvPr/>
        </p:nvSpPr>
        <p:spPr>
          <a:xfrm>
            <a:off x="0" y="0"/>
            <a:ext cx="12191695" cy="3657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D5FC23C7-5AEB-15B2-DB62-49F00CB579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674298"/>
              </p:ext>
            </p:extLst>
          </p:nvPr>
        </p:nvGraphicFramePr>
        <p:xfrm>
          <a:off x="502920" y="1977171"/>
          <a:ext cx="8864364" cy="3005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17806">
                  <a:extLst>
                    <a:ext uri="{9D8B030D-6E8A-4147-A177-3AD203B41FA5}">
                      <a16:colId xmlns:a16="http://schemas.microsoft.com/office/drawing/2014/main" val="1476972302"/>
                    </a:ext>
                  </a:extLst>
                </a:gridCol>
                <a:gridCol w="1669311">
                  <a:extLst>
                    <a:ext uri="{9D8B030D-6E8A-4147-A177-3AD203B41FA5}">
                      <a16:colId xmlns:a16="http://schemas.microsoft.com/office/drawing/2014/main" val="4293448555"/>
                    </a:ext>
                  </a:extLst>
                </a:gridCol>
                <a:gridCol w="2147777">
                  <a:extLst>
                    <a:ext uri="{9D8B030D-6E8A-4147-A177-3AD203B41FA5}">
                      <a16:colId xmlns:a16="http://schemas.microsoft.com/office/drawing/2014/main" val="3770701167"/>
                    </a:ext>
                  </a:extLst>
                </a:gridCol>
                <a:gridCol w="4529470">
                  <a:extLst>
                    <a:ext uri="{9D8B030D-6E8A-4147-A177-3AD203B41FA5}">
                      <a16:colId xmlns:a16="http://schemas.microsoft.com/office/drawing/2014/main" val="707987403"/>
                    </a:ext>
                  </a:extLst>
                </a:gridCol>
              </a:tblGrid>
              <a:tr h="60119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048318"/>
                  </a:ext>
                </a:extLst>
              </a:tr>
              <a:tr h="60119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786973"/>
                  </a:ext>
                </a:extLst>
              </a:tr>
              <a:tr h="60119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496063"/>
                  </a:ext>
                </a:extLst>
              </a:tr>
              <a:tr h="60119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591242"/>
                  </a:ext>
                </a:extLst>
              </a:tr>
              <a:tr h="60119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806712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7348" y="2106955"/>
            <a:ext cx="347472" cy="292608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7550" y="2113660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Atlanta WH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481" y="2119021"/>
            <a:ext cx="1645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Network / 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0791" y="2111682"/>
            <a:ext cx="3275891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Evaluate the cost-to-serve case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348" y="2712591"/>
            <a:ext cx="347472" cy="29260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555" y="2729889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Houston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481" y="2730456"/>
            <a:ext cx="1645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Gus Patrick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185" y="2717857"/>
            <a:ext cx="3081315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Build operator and pricing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7348" y="3327830"/>
            <a:ext cx="347472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5988" y="3327830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Texas posture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4788" y="3346118"/>
            <a:ext cx="1645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Texas FSI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202" y="3334146"/>
            <a:ext cx="3424747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Protect branded flour and prep 2027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391" y="3943071"/>
            <a:ext cx="347472" cy="29260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5988" y="3952293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West playbook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9286" y="3952293"/>
            <a:ext cx="1645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West FSI zone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6666" y="3952293"/>
            <a:ext cx="4450618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Document Phoenix, Shamrock, and Vernon plays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348" y="4539747"/>
            <a:ext cx="347472" cy="292608"/>
          </a:xfrm>
          <a:prstGeom prst="roundRect">
            <a:avLst/>
          </a:prstGeom>
          <a:solidFill>
            <a:srgbClr val="F7C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5988" y="4542930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Field insights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4788" y="4542930"/>
            <a:ext cx="164592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Field </a:t>
            </a:r>
            <a:r>
              <a:rPr lang="en-US" sz="1600" b="1" dirty="0">
                <a:solidFill>
                  <a:srgbClr val="FFFFFF"/>
                </a:solidFill>
                <a:latin typeface="Times New Roman"/>
              </a:rPr>
              <a:t>&amp; myself</a:t>
            </a:r>
            <a:endParaRPr sz="1600"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16333" y="4544758"/>
            <a:ext cx="525780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Times New Roman"/>
              </a:rPr>
              <a:t>Keep AE learnings as a living document.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AD2E03"/>
      </a:dk2>
      <a:lt2>
        <a:srgbClr val="D75626"/>
      </a:lt2>
      <a:accent1>
        <a:srgbClr val="760603"/>
      </a:accent1>
      <a:accent2>
        <a:srgbClr val="FA9C1F"/>
      </a:accent2>
      <a:accent3>
        <a:srgbClr val="D9BB55"/>
      </a:accent3>
      <a:accent4>
        <a:srgbClr val="829551"/>
      </a:accent4>
      <a:accent5>
        <a:srgbClr val="58A28B"/>
      </a:accent5>
      <a:accent6>
        <a:srgbClr val="426480"/>
      </a:accent6>
      <a:hlink>
        <a:srgbClr val="460402"/>
      </a:hlink>
      <a:folHlink>
        <a:srgbClr val="991111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4000"/>
                <a:hueMod val="22000"/>
                <a:satMod val="220000"/>
                <a:lumMod val="6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2000"/>
                <a:hueMod val="22000"/>
                <a:satMod val="220000"/>
                <a:lumMod val="6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2903AAAE-3EA5-424A-B142-CC51DC1F897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1682</TotalTime>
  <Words>1163</Words>
  <Application>Microsoft Office PowerPoint</Application>
  <PresentationFormat>Widescreen</PresentationFormat>
  <Paragraphs>221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Carlito</vt:lpstr>
      <vt:lpstr>Century Gothic</vt:lpstr>
      <vt:lpstr>Times New Roman</vt:lpstr>
      <vt:lpstr>Wingdings 3</vt:lpstr>
      <vt:lpstr>Slice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Jake Gilstein</cp:lastModifiedBy>
  <cp:revision>6</cp:revision>
  <dcterms:created xsi:type="dcterms:W3CDTF">2013-01-27T09:14:16Z</dcterms:created>
  <dcterms:modified xsi:type="dcterms:W3CDTF">2026-06-16T18:54:24Z</dcterms:modified>
  <cp:category/>
</cp:coreProperties>
</file>