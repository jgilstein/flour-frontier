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</p:sldMasterIdLst>
  <p:notesMasterIdLst>
    <p:notesMasterId r:id="rId8"/>
  </p:notesMasterIdLst>
  <p:sldIdLst>
    <p:sldId id="265" r:id="rId3"/>
    <p:sldId id="264" r:id="rId4"/>
    <p:sldId id="262" r:id="rId5"/>
    <p:sldId id="263" r:id="rId6"/>
    <p:sldId id="260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9A975E3-D1F3-465C-9BCF-FB7E18AF5D93}" v="1" dt="2026-05-29T13:33:01.73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67676" autoAdjust="0"/>
  </p:normalViewPr>
  <p:slideViewPr>
    <p:cSldViewPr snapToGrid="0" snapToObjects="1">
      <p:cViewPr varScale="1">
        <p:scale>
          <a:sx n="74" d="100"/>
          <a:sy n="74" d="100"/>
        </p:scale>
        <p:origin x="352" y="5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6/11/relationships/changesInfo" Target="changesInfos/changesInfo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theme" Target="theme/theme1.xml"/><Relationship Id="rId5" Type="http://schemas.openxmlformats.org/officeDocument/2006/relationships/slide" Target="slides/slide3.xml"/><Relationship Id="rId10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ke Gilstein" userId="62cb0a79-6670-4fbc-800d-9777482770ad" providerId="ADAL" clId="{E8E93B12-7B5D-4D61-AB68-55954BC0EA68}"/>
    <pc:docChg chg="modSld">
      <pc:chgData name="Jake Gilstein" userId="62cb0a79-6670-4fbc-800d-9777482770ad" providerId="ADAL" clId="{E8E93B12-7B5D-4D61-AB68-55954BC0EA68}" dt="2026-05-29T17:20:27.593" v="1" actId="6549"/>
      <pc:docMkLst>
        <pc:docMk/>
      </pc:docMkLst>
      <pc:sldChg chg="modSp mod">
        <pc:chgData name="Jake Gilstein" userId="62cb0a79-6670-4fbc-800d-9777482770ad" providerId="ADAL" clId="{E8E93B12-7B5D-4D61-AB68-55954BC0EA68}" dt="2026-05-29T17:20:27.593" v="1" actId="6549"/>
        <pc:sldMkLst>
          <pc:docMk/>
          <pc:sldMk cId="0" sldId="260"/>
        </pc:sldMkLst>
        <pc:spChg chg="mod">
          <ac:chgData name="Jake Gilstein" userId="62cb0a79-6670-4fbc-800d-9777482770ad" providerId="ADAL" clId="{E8E93B12-7B5D-4D61-AB68-55954BC0EA68}" dt="2026-05-29T17:20:27.593" v="1" actId="6549"/>
          <ac:spMkLst>
            <pc:docMk/>
            <pc:sldMk cId="0" sldId="260"/>
            <ac:spMk id="18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83824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9293316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RAN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36576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Flour Frontier  ·  NAF FSI Intern Final  ·  Jake Gilstein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686800" y="36576"/>
            <a:ext cx="3291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General Mills  |  FSI West Zone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49224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  <a:latin typeface="Carlito"/>
                <a:ea typeface="Carlito"/>
                <a:cs typeface="Carlito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10649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49224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  <a:latin typeface="Carlito"/>
                <a:ea typeface="Carlito"/>
                <a:cs typeface="Carlito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36663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68B17CC-917D-625A-EFDB-C8E764081ABB}"/>
              </a:ext>
            </a:extLst>
          </p:cNvPr>
          <p:cNvSpPr/>
          <p:nvPr/>
        </p:nvSpPr>
        <p:spPr>
          <a:xfrm>
            <a:off x="305" y="24801"/>
            <a:ext cx="12191695" cy="6858000"/>
          </a:xfrm>
          <a:prstGeom prst="rect">
            <a:avLst/>
          </a:prstGeom>
          <a:solidFill>
            <a:srgbClr val="1A2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226243" y="430334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0" b="1" i="0" u="none" strike="noStrike" kern="0" cap="none" spc="40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imes New Roman" panose="02020603050405020304" pitchFamily="18" charset="0"/>
                <a:ea typeface="Liberation Serif" pitchFamily="34" charset="-122"/>
                <a:cs typeface="Times New Roman" panose="02020603050405020304" pitchFamily="18" charset="0"/>
              </a:rPr>
              <a:t>FLOUR FRONTIER</a:t>
            </a:r>
            <a:endParaRPr kumimoji="0" lang="en-US" sz="60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226243" y="1175287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imes New Roman" panose="02020603050405020304" pitchFamily="18" charset="0"/>
                <a:ea typeface="Carlito" pitchFamily="34" charset="-122"/>
                <a:cs typeface="Times New Roman" panose="02020603050405020304" pitchFamily="18" charset="0"/>
              </a:rPr>
              <a:t>Where Should NAF FSI Take Flour in the Next 10 Years?</a:t>
            </a:r>
            <a:endParaRPr kumimoji="0" lang="en-US" sz="2200" b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226243" y="322326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imes New Roman" panose="02020603050405020304" pitchFamily="18" charset="0"/>
                <a:ea typeface="Liberation Serif" pitchFamily="34" charset="-122"/>
                <a:cs typeface="Times New Roman" panose="02020603050405020304" pitchFamily="18" charset="0"/>
              </a:rPr>
              <a:t>Jake Gilstein</a:t>
            </a: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226243" y="3817752"/>
            <a:ext cx="10972800" cy="25814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imes New Roman" panose="02020603050405020304" pitchFamily="18" charset="0"/>
                <a:ea typeface="Carlito" pitchFamily="34" charset="-122"/>
                <a:cs typeface="Times New Roman" panose="02020603050405020304" pitchFamily="18" charset="0"/>
              </a:rPr>
              <a:t>NAF Sales Intern · FSI West Zone - Flour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226243" y="4217370"/>
            <a:ext cx="11295197" cy="25814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lvl="0" defTabSz="914400"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imes New Roman" panose="02020603050405020304" pitchFamily="18" charset="0"/>
                <a:ea typeface="Carlito" pitchFamily="34" charset="-122"/>
                <a:cs typeface="Times New Roman" panose="02020603050405020304" pitchFamily="18" charset="0"/>
              </a:rPr>
              <a:t>University of South Florida ·  Business Management </a:t>
            </a:r>
            <a:r>
              <a:rPr lang="en-US" sz="1400" dirty="0">
                <a:solidFill>
                  <a:schemeClr val="bg1"/>
                </a:solidFill>
                <a:latin typeface="Times New Roman" panose="02020603050405020304" pitchFamily="18" charset="0"/>
                <a:ea typeface="Carlito" pitchFamily="34" charset="-122"/>
                <a:cs typeface="Times New Roman" panose="02020603050405020304" pitchFamily="18" charset="0"/>
              </a:rPr>
              <a:t>M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imes New Roman" panose="02020603050405020304" pitchFamily="18" charset="0"/>
                <a:ea typeface="Carlito" pitchFamily="34" charset="-122"/>
                <a:cs typeface="Times New Roman" panose="02020603050405020304" pitchFamily="18" charset="0"/>
              </a:rPr>
              <a:t>ajor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imes New Roman" panose="02020603050405020304" pitchFamily="18" charset="0"/>
                <a:ea typeface="Carlito" pitchFamily="34" charset="-122"/>
                <a:cs typeface="Times New Roman" panose="02020603050405020304" pitchFamily="18" charset="0"/>
              </a:rPr>
              <a:t> &amp; Marketing Minor </a:t>
            </a:r>
            <a:r>
              <a:rPr lang="en-US" sz="1400" dirty="0">
                <a:solidFill>
                  <a:schemeClr val="bg1"/>
                </a:solidFill>
                <a:latin typeface="Times New Roman" panose="02020603050405020304" pitchFamily="18" charset="0"/>
                <a:ea typeface="Carlito" pitchFamily="34" charset="-122"/>
                <a:cs typeface="Times New Roman" panose="02020603050405020304" pitchFamily="18" charset="0"/>
              </a:rPr>
              <a:t>·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imes New Roman" panose="02020603050405020304" pitchFamily="18" charset="0"/>
                <a:ea typeface="Carlito" pitchFamily="34" charset="-122"/>
                <a:cs typeface="Times New Roman" panose="02020603050405020304" pitchFamily="18" charset="0"/>
              </a:rPr>
              <a:t>Prior strategic sales &amp; 3PL logistics experience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226243" y="64236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lvl="0" defTabSz="914400">
              <a:defRPr/>
            </a:pPr>
            <a:r>
              <a:rPr kumimoji="0" lang="en-US" sz="1200" b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imes New Roman" panose="02020603050405020304" pitchFamily="18" charset="0"/>
                <a:ea typeface="Carlito" pitchFamily="34" charset="-122"/>
                <a:cs typeface="Times New Roman" panose="02020603050405020304" pitchFamily="18" charset="0"/>
              </a:rPr>
              <a:t>10 weeks · Flour Frontiers Project · Manager: James Mueting · Mentor: Catherine Colon</a:t>
            </a:r>
            <a:r>
              <a:rPr lang="en-US" sz="1200" dirty="0">
                <a:solidFill>
                  <a:schemeClr val="bg1"/>
                </a:solidFill>
                <a:latin typeface="Times New Roman" panose="02020603050405020304" pitchFamily="18" charset="0"/>
                <a:ea typeface="Carlito" pitchFamily="34" charset="-122"/>
                <a:cs typeface="Times New Roman" panose="02020603050405020304" pitchFamily="18" charset="0"/>
              </a:rPr>
              <a:t> · Buddy: Helen Nguyen</a:t>
            </a:r>
            <a:endParaRPr kumimoji="0" lang="en-US" sz="1200" b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EDFF0A3-1EC9-D114-2D78-D8B42F371FF0}"/>
              </a:ext>
            </a:extLst>
          </p:cNvPr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>
            <a:extLst>
              <a:ext uri="{FF2B5EF4-FFF2-40B4-BE49-F238E27FC236}">
                <a16:creationId xmlns:a16="http://schemas.microsoft.com/office/drawing/2014/main" id="{855A0905-33D0-183B-E3C9-707D3A9946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A2528A36-451E-6901-9ACB-0D13B2A45D71}"/>
              </a:ext>
            </a:extLst>
          </p:cNvPr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 0"/>
          <p:cNvSpPr/>
          <p:nvPr/>
        </p:nvSpPr>
        <p:spPr>
          <a:xfrm>
            <a:off x="457200" y="448591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imes New Roman" panose="02020603050405020304" pitchFamily="18" charset="0"/>
                <a:ea typeface="Liberation Serif" pitchFamily="34" charset="-122"/>
                <a:cs typeface="Times New Roman" panose="02020603050405020304" pitchFamily="18" charset="0"/>
              </a:rPr>
              <a:t>The Ask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1385969"/>
            <a:ext cx="3611880" cy="4877671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94A3B8">
                <a:alpha val="15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274740"/>
            <a:ext cx="3611880" cy="16459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514350" y="1550561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0" cap="none" spc="300" normalizeH="0" baseline="0" noProof="0" dirty="0">
                <a:ln>
                  <a:noFill/>
                </a:ln>
                <a:solidFill>
                  <a:srgbClr val="DC2626"/>
                </a:solidFill>
                <a:effectLst/>
                <a:uLnTx/>
                <a:uFillTx/>
                <a:latin typeface="Times New Roman" panose="02020603050405020304" pitchFamily="18" charset="0"/>
                <a:ea typeface="Carlito" pitchFamily="34" charset="-122"/>
                <a:cs typeface="Times New Roman" panose="02020603050405020304" pitchFamily="18" charset="0"/>
              </a:rPr>
              <a:t>MARKET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800100" y="1921442"/>
            <a:ext cx="3200400" cy="15413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Liberation Serif" pitchFamily="34" charset="-122"/>
                <a:cs typeface="Times New Roman" panose="02020603050405020304" pitchFamily="18" charset="0"/>
              </a:rPr>
              <a:t>US population is shifting south &amp; west, but GM milling capacity isn't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611505" y="3597781"/>
            <a:ext cx="3303270" cy="22030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Carlito" pitchFamily="34" charset="-122"/>
                <a:cs typeface="Times New Roman" panose="02020603050405020304" pitchFamily="18" charset="0"/>
              </a:rPr>
              <a:t>5 of the top 50 metros account for  30M people, and 4 of them sit &gt;500mi from the nearest GM mill. The Sunbelt is the growth corridor; our mill footprint was built for a different decade.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434840" y="1397726"/>
            <a:ext cx="3611880" cy="4865914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94A3B8">
                <a:alpha val="15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434840" y="1274740"/>
            <a:ext cx="3611880" cy="164592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640580" y="1576963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0" cap="none" spc="300" normalizeH="0" baseline="0" noProof="0" dirty="0">
                <a:ln>
                  <a:noFill/>
                </a:ln>
                <a:solidFill>
                  <a:srgbClr val="1F6FEB"/>
                </a:solidFill>
                <a:effectLst/>
                <a:uLnTx/>
                <a:uFillTx/>
                <a:latin typeface="Times New Roman" panose="02020603050405020304" pitchFamily="18" charset="0"/>
                <a:ea typeface="Carlito" pitchFamily="34" charset="-122"/>
                <a:cs typeface="Times New Roman" panose="02020603050405020304" pitchFamily="18" charset="0"/>
              </a:rPr>
              <a:t>BUSINESS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640580" y="2052014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Liberation Serif" pitchFamily="34" charset="-122"/>
                <a:cs typeface="Times New Roman" panose="02020603050405020304" pitchFamily="18" charset="0"/>
              </a:rPr>
              <a:t>Flour is 19M+ EQC of volume, but YoY is roughly flat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549140" y="3644737"/>
            <a:ext cx="3383280" cy="2404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Carlito" pitchFamily="34" charset="-122"/>
                <a:cs typeface="Times New Roman" panose="02020603050405020304" pitchFamily="18" charset="0"/>
              </a:rPr>
              <a:t>Branded Sack and Distributor Label make up 75% of distribution. Distributor Label is slipping, Sysco, US Foods, PFG and Independents are all missing program by 4-13%. The volume story is hiding a mix problem.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8412480" y="1397726"/>
            <a:ext cx="3611880" cy="4865914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25400" dir="5400000" algn="bl" rotWithShape="0">
              <a:srgbClr val="94A3B8">
                <a:alpha val="15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8412480" y="1278180"/>
            <a:ext cx="3611880" cy="16459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8641080" y="1554857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0" cap="none" spc="300" normalizeH="0" baseline="0" noProof="0" dirty="0">
                <a:ln>
                  <a:noFill/>
                </a:ln>
                <a:solidFill>
                  <a:srgbClr val="16A34A"/>
                </a:solidFill>
                <a:effectLst/>
                <a:uLnTx/>
                <a:uFillTx/>
                <a:latin typeface="Times New Roman" panose="02020603050405020304" pitchFamily="18" charset="0"/>
                <a:ea typeface="Carlito" pitchFamily="34" charset="-122"/>
                <a:cs typeface="Times New Roman" panose="02020603050405020304" pitchFamily="18" charset="0"/>
              </a:rPr>
              <a:t>STRATEGY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9009904" y="1916156"/>
            <a:ext cx="2570591" cy="16816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400" b="1" dirty="0">
                <a:solidFill>
                  <a:srgbClr val="0F172A"/>
                </a:solidFill>
                <a:latin typeface="Times New Roman" panose="02020603050405020304" pitchFamily="18" charset="0"/>
                <a:ea typeface="Liberation Serif" pitchFamily="34" charset="-122"/>
                <a:cs typeface="Times New Roman" panose="02020603050405020304" pitchFamily="18" charset="0"/>
              </a:rPr>
              <a:t>Only utilize the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Times New Roman" panose="02020603050405020304" pitchFamily="18" charset="0"/>
                <a:ea typeface="Liberation Serif" pitchFamily="34" charset="-122"/>
                <a:cs typeface="Times New Roman" panose="02020603050405020304" pitchFamily="18" charset="0"/>
              </a:rPr>
              <a:t> recommendations grounded in real data, not gut feel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8734052" y="3652454"/>
            <a:ext cx="3014456" cy="212225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Carlito" pitchFamily="34" charset="-122"/>
                <a:cs typeface="Times New Roman" panose="02020603050405020304" pitchFamily="18" charset="0"/>
              </a:rPr>
              <a:t>Census growth</a:t>
            </a:r>
            <a:r>
              <a:rPr lang="en-US" sz="2000" dirty="0">
                <a:latin typeface="Times New Roman" panose="02020603050405020304" pitchFamily="18" charset="0"/>
                <a:ea typeface="Carlito" pitchFamily="34" charset="-122"/>
                <a:cs typeface="Times New Roman" panose="02020603050405020304" pitchFamily="18" charset="0"/>
              </a:rPr>
              <a:t>,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Carlito" pitchFamily="34" charset="-122"/>
                <a:cs typeface="Times New Roman" panose="02020603050405020304" pitchFamily="18" charset="0"/>
              </a:rPr>
              <a:t> HQ inflow, foodservice density, GMI territory performance and mill/warehouse logistics. Six lenses, one scoring framework, one prioritized list of metros to attack.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457200" y="6342006"/>
            <a:ext cx="11567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imes New Roman" panose="02020603050405020304" pitchFamily="18" charset="0"/>
                <a:ea typeface="Carlito" pitchFamily="34" charset="-122"/>
                <a:cs typeface="Times New Roman" panose="02020603050405020304" pitchFamily="18" charset="0"/>
              </a:rPr>
              <a:t>The deliverable: a quantitative ranking of growth pockets, a sober view of where our supply chain breaks, and a phased recommendation on where to focus first.</a:t>
            </a:r>
            <a:endParaRPr kumimoji="0" lang="en-US" sz="1200" b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>
            <a:extLst>
              <a:ext uri="{FF2B5EF4-FFF2-40B4-BE49-F238E27FC236}">
                <a16:creationId xmlns:a16="http://schemas.microsoft.com/office/drawing/2014/main" id="{58385B92-8C38-D3F2-D987-263737237F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25040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06624" y="361296"/>
            <a:ext cx="11277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True 5 Ranking 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9352" y="1316176"/>
            <a:ext cx="439729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C8102E"/>
                </a:solidFill>
              </a:defRPr>
            </a:pPr>
            <a:r>
              <a:rPr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 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Dimensions</a:t>
            </a:r>
            <a:r>
              <a:rPr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· N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ormalized 1-5 within the true 5 group</a:t>
            </a:r>
            <a:endParaRPr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2955444"/>
              </p:ext>
            </p:extLst>
          </p:nvPr>
        </p:nvGraphicFramePr>
        <p:xfrm>
          <a:off x="304799" y="1645920"/>
          <a:ext cx="5725064" cy="27965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61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85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3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0219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5241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5241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5241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5461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Dimension</a:t>
                      </a: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Wt</a:t>
                      </a: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HOU</a:t>
                      </a: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FFFFFF"/>
                          </a:solidFill>
                        </a:rPr>
                        <a:t>DFW</a:t>
                      </a: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ATL</a:t>
                      </a: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FFFFFF"/>
                          </a:solidFill>
                        </a:rPr>
                        <a:t>TPA</a:t>
                      </a: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PHX</a:t>
                      </a: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Winner</a:t>
                      </a: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F2937"/>
                          </a:solidFill>
                        </a:rPr>
                        <a:t>Market Opportunity (TAM gap)</a:t>
                      </a:r>
                    </a:p>
                  </a:txBody>
                  <a:tcPr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</a:rPr>
                        <a:t>30%</a:t>
                      </a:r>
                    </a:p>
                  </a:txBody>
                  <a:tcPr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5</a:t>
                      </a:r>
                    </a:p>
                  </a:txBody>
                  <a:tcPr anchor="ctr">
                    <a:solidFill>
                      <a:srgbClr val="A85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4</a:t>
                      </a:r>
                    </a:p>
                  </a:txBody>
                  <a:tcPr anchor="ctr">
                    <a:solidFill>
                      <a:srgbClr val="C810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3</a:t>
                      </a:r>
                    </a:p>
                  </a:txBody>
                  <a:tcPr anchor="ctr">
                    <a:solidFill>
                      <a:srgbClr val="16A3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3</a:t>
                      </a:r>
                    </a:p>
                  </a:txBody>
                  <a:tcPr anchor="ctr">
                    <a:solidFill>
                      <a:srgbClr val="FBBF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</a:rPr>
                        <a:t>HOU</a:t>
                      </a:r>
                    </a:p>
                  </a:txBody>
                  <a:tcPr anchor="ctr">
                    <a:solidFill>
                      <a:srgbClr val="F9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F2937"/>
                          </a:solidFill>
                        </a:rPr>
                        <a:t>Market Health (YoY)</a:t>
                      </a:r>
                    </a:p>
                  </a:txBody>
                  <a:tcPr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</a:rPr>
                        <a:t>15%</a:t>
                      </a:r>
                    </a:p>
                  </a:txBody>
                  <a:tcPr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4</a:t>
                      </a:r>
                    </a:p>
                  </a:txBody>
                  <a:tcPr anchor="ctr">
                    <a:solidFill>
                      <a:srgbClr val="C810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5</a:t>
                      </a:r>
                    </a:p>
                  </a:txBody>
                  <a:tcPr anchor="ctr">
                    <a:solidFill>
                      <a:srgbClr val="16A3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4</a:t>
                      </a:r>
                    </a:p>
                  </a:txBody>
                  <a:tcPr anchor="ctr">
                    <a:solidFill>
                      <a:srgbClr val="A85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5</a:t>
                      </a:r>
                    </a:p>
                  </a:txBody>
                  <a:tcPr anchor="ctr"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BBF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</a:rPr>
                        <a:t>DFW/TPA</a:t>
                      </a:r>
                    </a:p>
                  </a:txBody>
                  <a:tcPr anchor="ctr">
                    <a:solidFill>
                      <a:srgbClr val="F9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F2937"/>
                          </a:solidFill>
                        </a:rPr>
                        <a:t>Future Growth 10yr</a:t>
                      </a:r>
                    </a:p>
                  </a:txBody>
                  <a:tcPr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</a:rPr>
                        <a:t>15%</a:t>
                      </a:r>
                    </a:p>
                  </a:txBody>
                  <a:tcPr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3</a:t>
                      </a:r>
                    </a:p>
                  </a:txBody>
                  <a:tcPr anchor="ctr">
                    <a:solidFill>
                      <a:srgbClr val="C810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4</a:t>
                      </a:r>
                    </a:p>
                  </a:txBody>
                  <a:tcPr anchor="ctr">
                    <a:solidFill>
                      <a:srgbClr val="16A3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A85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FFFFFF"/>
                          </a:solidFill>
                        </a:rPr>
                        <a:t>3</a:t>
                      </a:r>
                    </a:p>
                  </a:txBody>
                  <a:tcPr anchor="ctr"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5</a:t>
                      </a:r>
                    </a:p>
                  </a:txBody>
                  <a:tcPr anchor="ctr">
                    <a:solidFill>
                      <a:srgbClr val="FBBF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</a:rPr>
                        <a:t>PHX</a:t>
                      </a:r>
                    </a:p>
                  </a:txBody>
                  <a:tcPr anchor="ctr">
                    <a:solidFill>
                      <a:srgbClr val="F9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F2937"/>
                          </a:solidFill>
                        </a:rPr>
                        <a:t>HQ Inflow</a:t>
                      </a:r>
                    </a:p>
                  </a:txBody>
                  <a:tcPr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</a:rPr>
                        <a:t>10%</a:t>
                      </a:r>
                    </a:p>
                  </a:txBody>
                  <a:tcPr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4</a:t>
                      </a:r>
                    </a:p>
                  </a:txBody>
                  <a:tcPr anchor="ctr">
                    <a:solidFill>
                      <a:srgbClr val="FBBF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5</a:t>
                      </a:r>
                    </a:p>
                  </a:txBody>
                  <a:tcPr anchor="ctr">
                    <a:solidFill>
                      <a:srgbClr val="C810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5</a:t>
                      </a:r>
                    </a:p>
                  </a:txBody>
                  <a:tcPr anchor="ctr">
                    <a:solidFill>
                      <a:srgbClr val="FBBF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3</a:t>
                      </a:r>
                    </a:p>
                  </a:txBody>
                  <a:tcPr anchor="ctr">
                    <a:solidFill>
                      <a:srgbClr val="C810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3</a:t>
                      </a:r>
                    </a:p>
                  </a:txBody>
                  <a:tcPr anchor="ctr">
                    <a:solidFill>
                      <a:srgbClr val="FBBF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1F2937"/>
                          </a:solidFill>
                        </a:rPr>
                        <a:t>DFW/ATL</a:t>
                      </a:r>
                    </a:p>
                  </a:txBody>
                  <a:tcPr anchor="ctr">
                    <a:solidFill>
                      <a:srgbClr val="F9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F2937"/>
                          </a:solidFill>
                        </a:rPr>
                        <a:t>Trajectory Proof</a:t>
                      </a:r>
                    </a:p>
                  </a:txBody>
                  <a:tcPr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</a:rPr>
                        <a:t>20%</a:t>
                      </a:r>
                    </a:p>
                  </a:txBody>
                  <a:tcPr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5</a:t>
                      </a:r>
                    </a:p>
                  </a:txBody>
                  <a:tcPr anchor="ctr">
                    <a:solidFill>
                      <a:srgbClr val="C810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5</a:t>
                      </a:r>
                    </a:p>
                  </a:txBody>
                  <a:tcPr anchor="ctr">
                    <a:solidFill>
                      <a:srgbClr val="FBBF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4</a:t>
                      </a:r>
                    </a:p>
                  </a:txBody>
                  <a:tcPr anchor="ctr">
                    <a:solidFill>
                      <a:srgbClr val="16A3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4</a:t>
                      </a:r>
                    </a:p>
                  </a:txBody>
                  <a:tcPr anchor="ctr">
                    <a:solidFill>
                      <a:srgbClr val="A85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1F2937"/>
                          </a:solidFill>
                        </a:rPr>
                        <a:t>HOU/ATL</a:t>
                      </a:r>
                    </a:p>
                  </a:txBody>
                  <a:tcPr anchor="ctr">
                    <a:solidFill>
                      <a:srgbClr val="F9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F2937"/>
                          </a:solidFill>
                        </a:rPr>
                        <a:t>Transport Quality</a:t>
                      </a:r>
                    </a:p>
                  </a:txBody>
                  <a:tcPr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</a:rPr>
                        <a:t>10%</a:t>
                      </a:r>
                    </a:p>
                  </a:txBody>
                  <a:tcPr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4</a:t>
                      </a:r>
                    </a:p>
                  </a:txBody>
                  <a:tcPr anchor="ctr">
                    <a:solidFill>
                      <a:srgbClr val="C810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5</a:t>
                      </a:r>
                    </a:p>
                  </a:txBody>
                  <a:tcPr anchor="ctr">
                    <a:solidFill>
                      <a:srgbClr val="16A3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rgbClr val="16A3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A85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</a:rPr>
                        <a:t>5</a:t>
                      </a:r>
                    </a:p>
                  </a:txBody>
                  <a:tcPr anchor="ctr"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</a:rPr>
                        <a:t>DFW/PHX</a:t>
                      </a:r>
                    </a:p>
                  </a:txBody>
                  <a:tcPr anchor="ctr">
                    <a:solidFill>
                      <a:srgbClr val="F9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BBF24"/>
                          </a:solidFill>
                        </a:rPr>
                        <a:t>COMPOSITE</a:t>
                      </a: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BBF24"/>
                          </a:solidFill>
                        </a:rPr>
                        <a:t>100%</a:t>
                      </a:r>
                      <a:endParaRPr sz="1100" b="1" dirty="0">
                        <a:solidFill>
                          <a:srgbClr val="FBBF24"/>
                        </a:solidFill>
                      </a:endParaRP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BBF24"/>
                          </a:solidFill>
                        </a:rPr>
                        <a:t>4.35</a:t>
                      </a: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BBF24"/>
                          </a:solidFill>
                        </a:rPr>
                        <a:t>3.95</a:t>
                      </a: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BBF24"/>
                          </a:solidFill>
                        </a:rPr>
                        <a:t>3.50</a:t>
                      </a: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BBF24"/>
                          </a:solidFill>
                        </a:rPr>
                        <a:t>3.30</a:t>
                      </a: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BBF24"/>
                          </a:solidFill>
                        </a:rPr>
                        <a:t>2.80</a:t>
                      </a: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BBF24"/>
                          </a:solidFill>
                        </a:rPr>
                        <a:t>HOU #1</a:t>
                      </a: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655934" y="1318919"/>
            <a:ext cx="1524776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C8102E"/>
                </a:solidFill>
              </a:defRPr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Final Rankings</a:t>
            </a:r>
            <a:endParaRPr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Oval 8"/>
          <p:cNvSpPr/>
          <p:nvPr/>
        </p:nvSpPr>
        <p:spPr>
          <a:xfrm>
            <a:off x="6400802" y="1645920"/>
            <a:ext cx="457200" cy="457200"/>
          </a:xfrm>
          <a:prstGeom prst="ellipse">
            <a:avLst/>
          </a:prstGeom>
          <a:solidFill>
            <a:srgbClr val="C8102E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#1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2" y="1645920"/>
            <a:ext cx="4937760" cy="457200"/>
          </a:xfrm>
          <a:prstGeom prst="rect">
            <a:avLst/>
          </a:prstGeom>
          <a:solidFill>
            <a:srgbClr val="1A2332"/>
          </a:solidFill>
          <a:ln w="12700"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tlCol="0" anchor="ctr"/>
          <a:lstStyle/>
          <a:p>
            <a:pPr algn="ctr"/>
            <a:r>
              <a:rPr sz="1200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Houston  ·  4.35 | Biggest TAM gap in country</a:t>
            </a:r>
          </a:p>
          <a:p>
            <a:r>
              <a:rPr sz="1000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Highest-quality win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2" y="2148840"/>
            <a:ext cx="457200" cy="457200"/>
          </a:xfrm>
          <a:prstGeom prst="ellipse">
            <a:avLst/>
          </a:prstGeom>
          <a:solidFill>
            <a:srgbClr val="E55A3C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#2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49442" y="2148840"/>
            <a:ext cx="4937760" cy="457200"/>
          </a:xfrm>
          <a:prstGeom prst="rect">
            <a:avLst/>
          </a:prstGeom>
          <a:solidFill>
            <a:srgbClr val="1A2332"/>
          </a:solidFill>
          <a:ln w="12700">
            <a:solidFill>
              <a:srgbClr val="E55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tlCol="0" anchor="ctr"/>
          <a:lstStyle/>
          <a:p>
            <a:pPr algn="ctr"/>
            <a:r>
              <a:rPr sz="1200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Dallas-Fort Worth  ·  3.95 | Fix Texas execution first</a:t>
            </a:r>
          </a:p>
          <a:p>
            <a:r>
              <a:rPr sz="1000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Highest-stakes</a:t>
            </a:r>
            <a:r>
              <a:rPr lang="en-US" sz="1000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sz="1000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fix first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2" y="2651760"/>
            <a:ext cx="457200" cy="457200"/>
          </a:xfrm>
          <a:prstGeom prst="ellipse">
            <a:avLst/>
          </a:prstGeom>
          <a:solidFill>
            <a:srgbClr val="FBBF24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#3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49442" y="2651760"/>
            <a:ext cx="4937760" cy="457200"/>
          </a:xfrm>
          <a:prstGeom prst="rect">
            <a:avLst/>
          </a:prstGeom>
          <a:solidFill>
            <a:srgbClr val="1A2332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tlCol="0" anchor="ctr"/>
          <a:lstStyle/>
          <a:p>
            <a:pPr algn="ctr"/>
            <a:r>
              <a:rPr sz="1200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Atlanta  ·  3.50 | GFS already winning, double down</a:t>
            </a:r>
          </a:p>
          <a:p>
            <a:r>
              <a:rPr sz="1000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Largest underserved market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2" y="3154680"/>
            <a:ext cx="457200" cy="457200"/>
          </a:xfrm>
          <a:prstGeom prst="ellipse">
            <a:avLst/>
          </a:prstGeom>
          <a:solidFill>
            <a:srgbClr val="16A34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#4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49442" y="3154680"/>
            <a:ext cx="4937760" cy="457200"/>
          </a:xfrm>
          <a:prstGeom prst="rect">
            <a:avLst/>
          </a:prstGeom>
          <a:solidFill>
            <a:srgbClr val="1A2332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tlCol="0" anchor="ctr"/>
          <a:lstStyle/>
          <a:p>
            <a:pPr algn="ctr"/>
            <a:r>
              <a:rPr sz="1200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Tampa-St. Pete  ·  3.30 | Fastest growth, build long-term</a:t>
            </a:r>
          </a:p>
          <a:p>
            <a:r>
              <a:rPr sz="1000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Strategic build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2" y="3657600"/>
            <a:ext cx="457200" cy="457200"/>
          </a:xfrm>
          <a:prstGeom prst="ellipse">
            <a:avLst/>
          </a:prstGeom>
          <a:solidFill>
            <a:srgbClr val="3B82F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#5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49442" y="3657600"/>
            <a:ext cx="4937760" cy="457200"/>
          </a:xfrm>
          <a:prstGeom prst="rect">
            <a:avLst/>
          </a:prstGeom>
          <a:solidFill>
            <a:srgbClr val="1A2332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tlCol="0" anchor="ctr"/>
          <a:lstStyle/>
          <a:p>
            <a:pPr algn="ctr"/>
            <a:r>
              <a:rPr sz="1200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Phoenix  ·  2.80 | Defense play in losing region</a:t>
            </a:r>
          </a:p>
          <a:p>
            <a:r>
              <a:rPr sz="1000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Long-term play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6128" y="4160520"/>
            <a:ext cx="174438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C8102E"/>
                </a:solidFill>
              </a:defRPr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Sensitivity Lenses</a:t>
            </a:r>
            <a:endParaRPr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0" name="Table 1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7071110"/>
              </p:ext>
            </p:extLst>
          </p:nvPr>
        </p:nvGraphicFramePr>
        <p:xfrm>
          <a:off x="6949442" y="4487648"/>
          <a:ext cx="4937760" cy="20454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79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76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8215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0105"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Lens</a:t>
                      </a: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Question</a:t>
                      </a: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Top 2</a:t>
                      </a:r>
                    </a:p>
                  </a:txBody>
                  <a:tcPr anchor="ctr">
                    <a:solidFill>
                      <a:srgbClr val="1A23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5157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37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 · Default Strategic</a:t>
                      </a:r>
                    </a:p>
                  </a:txBody>
                  <a:tcPr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10-yr balanced view</a:t>
                      </a:r>
                    </a:p>
                  </a:txBody>
                  <a:tcPr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Houston · DFW</a:t>
                      </a:r>
                    </a:p>
                  </a:txBody>
                  <a:tcPr anchor="ctr">
                    <a:solidFill>
                      <a:srgbClr val="F9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5157"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F2937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 · Pure Opportunity</a:t>
                      </a:r>
                    </a:p>
                  </a:txBody>
                  <a:tcPr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Biggest TAM gap?</a:t>
                      </a:r>
                    </a:p>
                  </a:txBody>
                  <a:tcPr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F2937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Houston · Atlanta</a:t>
                      </a:r>
                    </a:p>
                  </a:txBody>
                  <a:tcPr anchor="ctr">
                    <a:solidFill>
                      <a:srgbClr val="F9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5157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37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 · Urgency to Fix</a:t>
                      </a:r>
                    </a:p>
                  </a:txBody>
                  <a:tcPr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Biggest current bleed?</a:t>
                      </a:r>
                    </a:p>
                  </a:txBody>
                  <a:tcPr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F2937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DFW · Tampa</a:t>
                      </a:r>
                    </a:p>
                  </a:txBody>
                  <a:tcPr anchor="ctr">
                    <a:solidFill>
                      <a:srgbClr val="F9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5157"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F2937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 · Trajectory Wins</a:t>
                      </a:r>
                    </a:p>
                  </a:txBody>
                  <a:tcPr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F2937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Where is momentum?</a:t>
                      </a:r>
                    </a:p>
                  </a:txBody>
                  <a:tcPr anchor="ctr"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F2937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Atlanta · Tampa</a:t>
                      </a:r>
                    </a:p>
                  </a:txBody>
                  <a:tcPr anchor="ctr">
                    <a:solidFill>
                      <a:srgbClr val="F9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1" name="Rectangle 20"/>
          <p:cNvSpPr/>
          <p:nvPr/>
        </p:nvSpPr>
        <p:spPr>
          <a:xfrm>
            <a:off x="304799" y="4687356"/>
            <a:ext cx="5725065" cy="18724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ctr"/>
          <a:lstStyle/>
          <a:p>
            <a:pPr algn="ctr"/>
            <a:r>
              <a:rPr sz="1400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Houston wins weighting because the TAM gap is too big to ignore</a:t>
            </a:r>
            <a:endParaRPr lang="en-US" sz="1400" b="1" dirty="0">
              <a:solidFill>
                <a:srgbClr val="FFFFFF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sz="1400" b="1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Action plan order: Houston → DFW → Atlanta → Tampa → Phoenix</a:t>
            </a:r>
            <a:endParaRPr lang="en-US" sz="1400" b="1" dirty="0">
              <a:solidFill>
                <a:srgbClr val="FFFFFF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F4C6898-318A-18B0-9C1A-03EFA10895A0}"/>
              </a:ext>
            </a:extLst>
          </p:cNvPr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3D96F1C-84D4-9A70-5C2E-495680AD5EED}"/>
              </a:ext>
            </a:extLst>
          </p:cNvPr>
          <p:cNvSpPr txBox="1"/>
          <p:nvPr/>
        </p:nvSpPr>
        <p:spPr>
          <a:xfrm>
            <a:off x="206624" y="907475"/>
            <a:ext cx="63505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From a flat 5-way list to a defensible priority order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7973080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CIRCANA VALIDATES THE SOUTH STORY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554480"/>
            <a:ext cx="2743200" cy="2560320"/>
          </a:xfrm>
          <a:prstGeom prst="roundRect">
            <a:avLst/>
          </a:prstGeom>
          <a:solidFill>
            <a:srgbClr val="0F1419"/>
          </a:solidFill>
          <a:ln w="25400"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47276" y="1645920"/>
            <a:ext cx="1797287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9CA3AF"/>
                </a:solidFill>
              </a:defRPr>
            </a:pPr>
            <a:r>
              <a:rPr sz="2000">
                <a:latin typeface="Times New Roman" panose="02020603050405020304" pitchFamily="18" charset="0"/>
                <a:cs typeface="Times New Roman" panose="02020603050405020304" pitchFamily="18" charset="0"/>
              </a:rPr>
              <a:t>NORTHEAST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6175" y="2057400"/>
            <a:ext cx="2119491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rPr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347M </a:t>
            </a:r>
            <a:r>
              <a:rPr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lbs</a:t>
            </a:r>
            <a:r>
              <a:rPr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· 56.4% GMI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6700" y="2423160"/>
            <a:ext cx="1558439" cy="6771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800" b="1">
                <a:solidFill>
                  <a:srgbClr val="9CA3AF"/>
                </a:solidFill>
              </a:defRPr>
            </a:pPr>
            <a:r>
              <a:rPr>
                <a:latin typeface="Times New Roman" panose="02020603050405020304" pitchFamily="18" charset="0"/>
                <a:cs typeface="Times New Roman" panose="02020603050405020304" pitchFamily="18" charset="0"/>
              </a:rPr>
              <a:t>+1.2%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5135" y="3063240"/>
            <a:ext cx="1521571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9CA3AF"/>
                </a:solidFill>
              </a:defRPr>
            </a:pPr>
            <a:r>
              <a:rPr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Share Δ: +0.7pp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0334" y="3383280"/>
            <a:ext cx="1951175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MATURE</a:t>
            </a:r>
          </a:p>
          <a:p>
            <a:pPr algn="ctr"/>
            <a:r>
              <a:rPr sz="14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High share, slow growth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54680" y="1554480"/>
            <a:ext cx="2743200" cy="2560320"/>
          </a:xfrm>
          <a:prstGeom prst="roundRect">
            <a:avLst/>
          </a:prstGeom>
          <a:solidFill>
            <a:srgbClr val="0F1419"/>
          </a:solidFill>
          <a:ln w="254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804768" y="1645920"/>
            <a:ext cx="1443024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16A34A"/>
                </a:solidFill>
              </a:defRPr>
            </a:pPr>
            <a:r>
              <a:rPr sz="2000">
                <a:latin typeface="Times New Roman" panose="02020603050405020304" pitchFamily="18" charset="0"/>
                <a:cs typeface="Times New Roman" panose="02020603050405020304" pitchFamily="18" charset="0"/>
              </a:rPr>
              <a:t>CENTRAL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66535" y="2057400"/>
            <a:ext cx="2119491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rPr sz="1600">
                <a:latin typeface="Times New Roman" panose="02020603050405020304" pitchFamily="18" charset="0"/>
                <a:cs typeface="Times New Roman" panose="02020603050405020304" pitchFamily="18" charset="0"/>
              </a:rPr>
              <a:t>244M lbs · 22.7% GMI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7060" y="2423160"/>
            <a:ext cx="1558439" cy="6771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800" b="1">
                <a:solidFill>
                  <a:srgbClr val="16A34A"/>
                </a:solidFill>
              </a:defRPr>
            </a:pPr>
            <a:r>
              <a:rPr>
                <a:latin typeface="Times New Roman" panose="02020603050405020304" pitchFamily="18" charset="0"/>
                <a:cs typeface="Times New Roman" panose="02020603050405020304" pitchFamily="18" charset="0"/>
              </a:rPr>
              <a:t>+5.5%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65496" y="3063240"/>
            <a:ext cx="1521570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9CA3AF"/>
                </a:solidFill>
              </a:defRPr>
            </a:pPr>
            <a:r>
              <a:rPr sz="1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Share Δ: +1.2pp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63944" y="3383280"/>
            <a:ext cx="2324675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GAINING</a:t>
            </a:r>
          </a:p>
          <a:p>
            <a:pPr algn="ctr"/>
            <a:r>
              <a:rPr sz="140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Low share, GMI growing fast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35040" y="1554480"/>
            <a:ext cx="2743200" cy="2560320"/>
          </a:xfrm>
          <a:prstGeom prst="roundRect">
            <a:avLst/>
          </a:prstGeom>
          <a:solidFill>
            <a:srgbClr val="0F1419"/>
          </a:solidFill>
          <a:ln w="254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865465" y="1645920"/>
            <a:ext cx="1082349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16A34A"/>
                </a:solidFill>
              </a:defRPr>
            </a:pPr>
            <a:r>
              <a:rPr sz="2000">
                <a:latin typeface="Times New Roman" panose="02020603050405020304" pitchFamily="18" charset="0"/>
                <a:cs typeface="Times New Roman" panose="02020603050405020304" pitchFamily="18" charset="0"/>
              </a:rPr>
              <a:t>SOUTH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6895" y="2057400"/>
            <a:ext cx="2119491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rPr sz="1600">
                <a:latin typeface="Times New Roman" panose="02020603050405020304" pitchFamily="18" charset="0"/>
                <a:cs typeface="Times New Roman" panose="02020603050405020304" pitchFamily="18" charset="0"/>
              </a:rPr>
              <a:t>794M lbs · 28.6% GMI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7420" y="2423160"/>
            <a:ext cx="1558439" cy="6771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800" b="1">
                <a:solidFill>
                  <a:srgbClr val="16A34A"/>
                </a:solidFill>
              </a:defRPr>
            </a:pPr>
            <a:r>
              <a:rPr>
                <a:latin typeface="Times New Roman" panose="02020603050405020304" pitchFamily="18" charset="0"/>
                <a:cs typeface="Times New Roman" panose="02020603050405020304" pitchFamily="18" charset="0"/>
              </a:rPr>
              <a:t>+5.1%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5856" y="3063240"/>
            <a:ext cx="1521570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9CA3AF"/>
                </a:solidFill>
              </a:defRPr>
            </a:pPr>
            <a:r>
              <a:rPr sz="1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Share Δ: +1.0pp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38913" y="3401794"/>
            <a:ext cx="29354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OPEN FRONTIER</a:t>
            </a:r>
          </a:p>
          <a:p>
            <a:pPr algn="ctr"/>
            <a:r>
              <a:rPr sz="14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45% of US market · True 5 corridor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15400" y="1554480"/>
            <a:ext cx="2743200" cy="2560320"/>
          </a:xfrm>
          <a:prstGeom prst="roundRect">
            <a:avLst/>
          </a:prstGeom>
          <a:solidFill>
            <a:srgbClr val="0F1419"/>
          </a:solidFill>
          <a:ln w="25400"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9823571" y="1645920"/>
            <a:ext cx="926857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C8102E"/>
                </a:solidFill>
              </a:defRPr>
            </a:pPr>
            <a:r>
              <a:rPr sz="2000">
                <a:latin typeface="Times New Roman" panose="02020603050405020304" pitchFamily="18" charset="0"/>
                <a:cs typeface="Times New Roman" panose="02020603050405020304" pitchFamily="18" charset="0"/>
              </a:rPr>
              <a:t>WEST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27255" y="2057400"/>
            <a:ext cx="2119491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rPr sz="1600">
                <a:latin typeface="Times New Roman" panose="02020603050405020304" pitchFamily="18" charset="0"/>
                <a:cs typeface="Times New Roman" panose="02020603050405020304" pitchFamily="18" charset="0"/>
              </a:rPr>
              <a:t>380M lbs · 35.4% GMI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65488" y="2423160"/>
            <a:ext cx="1443023" cy="6771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800" b="1">
                <a:solidFill>
                  <a:srgbClr val="C8102E"/>
                </a:solidFill>
              </a:defRPr>
            </a:pPr>
            <a:r>
              <a:rPr>
                <a:latin typeface="Times New Roman" panose="02020603050405020304" pitchFamily="18" charset="0"/>
                <a:cs typeface="Times New Roman" panose="02020603050405020304" pitchFamily="18" charset="0"/>
              </a:rPr>
              <a:t>-2.5%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49459" y="3063240"/>
            <a:ext cx="1475084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9CA3AF"/>
                </a:solidFill>
              </a:defRPr>
            </a:pPr>
            <a:r>
              <a:rPr sz="1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Share Δ: -1.1pp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95974" y="3429000"/>
            <a:ext cx="2582052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UNDER PRESSURE</a:t>
            </a:r>
          </a:p>
          <a:p>
            <a:pPr algn="ctr"/>
            <a:r>
              <a:rPr sz="14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GMI losing share</a:t>
            </a:r>
            <a:r>
              <a:rPr lang="en-US" sz="14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sz="14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defend Vernon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297680"/>
            <a:ext cx="11612880" cy="2377440"/>
          </a:xfrm>
          <a:prstGeom prst="rect">
            <a:avLst/>
          </a:prstGeom>
          <a:solidFill>
            <a:srgbClr val="0F1419"/>
          </a:solidFill>
          <a:ln w="25400"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457200" y="4389120"/>
            <a:ext cx="437812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rPr>
                <a:latin typeface="Times New Roman" panose="02020603050405020304" pitchFamily="18" charset="0"/>
                <a:cs typeface="Times New Roman" panose="02020603050405020304" pitchFamily="18" charset="0"/>
              </a:rPr>
              <a:t>WHAT THIS MEANS FOR THE TRUE 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846320"/>
            <a:ext cx="11430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>
                <a:solidFill>
                  <a:srgbClr val="FBBF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sz="1600" b="1" dirty="0">
                <a:solidFill>
                  <a:srgbClr val="FBBF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DFW, Houston, Atlanta, </a:t>
            </a:r>
            <a:r>
              <a:rPr lang="en-US" sz="1600" b="1" dirty="0">
                <a:solidFill>
                  <a:srgbClr val="FBBF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&amp; </a:t>
            </a:r>
            <a:r>
              <a:rPr sz="1600" b="1" dirty="0">
                <a:solidFill>
                  <a:srgbClr val="FBBF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Tampa</a:t>
            </a:r>
            <a:r>
              <a:rPr lang="en-US" sz="1600" b="1" dirty="0">
                <a:solidFill>
                  <a:srgbClr val="FBBF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16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All</a:t>
            </a:r>
            <a:r>
              <a:rPr sz="16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sit in the SOUTH</a:t>
            </a:r>
            <a:r>
              <a:rPr lang="en-US" sz="16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sz="16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fastest GMI growth (+5.1%) + lowest share (29%) = biggest open runway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5257800"/>
            <a:ext cx="11430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>
                <a:solidFill>
                  <a:srgbClr val="FBBF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sz="1600" b="1" dirty="0">
                <a:solidFill>
                  <a:srgbClr val="FBBF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PHOENIX</a:t>
            </a:r>
            <a:r>
              <a:rPr lang="en-US" sz="1600" b="1" dirty="0">
                <a:solidFill>
                  <a:srgbClr val="FBBF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sz="1600" b="1" dirty="0">
                <a:solidFill>
                  <a:srgbClr val="FBBF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sz="16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Strong AE performance (+3%) is fighting a regional headwind (-2.5% GMI / -1.1pp share)</a:t>
            </a:r>
            <a:r>
              <a:rPr lang="en-US" sz="16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sz="16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must defend Vernon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669280"/>
            <a:ext cx="11430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>
                <a:solidFill>
                  <a:srgbClr val="FBBF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sz="1600" b="1" dirty="0">
                <a:solidFill>
                  <a:srgbClr val="FBBF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DISTRIBUTOR LABEL</a:t>
            </a:r>
            <a:r>
              <a:rPr lang="en-US" sz="1600" b="1" dirty="0">
                <a:solidFill>
                  <a:srgbClr val="FBBF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sz="16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Declining in EVERY region (-2.9% to -12.4%)</a:t>
            </a:r>
            <a:r>
              <a:rPr lang="en-US" sz="16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sz="16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channel-wide bleed validates our Sysco/PFG/</a:t>
            </a:r>
            <a:r>
              <a:rPr sz="1600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Indep</a:t>
            </a:r>
            <a:r>
              <a:rPr sz="16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program misses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254055"/>
            <a:ext cx="11430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>
                <a:solidFill>
                  <a:srgbClr val="FBBF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sz="1600" b="1" dirty="0">
                <a:solidFill>
                  <a:srgbClr val="FBBF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NEW PRIORITY</a:t>
            </a:r>
            <a:r>
              <a:rPr lang="en-US" sz="1600" b="1" dirty="0">
                <a:solidFill>
                  <a:srgbClr val="FBBF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sz="160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DFW #1 (urgency in best region) · Phoenix #2 (quality but defensive) · Houston #3 · Atlanta #4 · Tampa #5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76C1BE3-DA5B-EA89-A0A8-FD9F21897CF6}"/>
              </a:ext>
            </a:extLst>
          </p:cNvPr>
          <p:cNvSpPr txBox="1"/>
          <p:nvPr/>
        </p:nvSpPr>
        <p:spPr>
          <a:xfrm>
            <a:off x="401109" y="1009412"/>
            <a:ext cx="82503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TTM May 2025–Apr 2026 · Pounds Adjusted · 4 US Census Regions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>
            <a:extLst>
              <a:ext uri="{FF2B5EF4-FFF2-40B4-BE49-F238E27FC236}">
                <a16:creationId xmlns:a16="http://schemas.microsoft.com/office/drawing/2014/main" id="{31432EE8-2C3F-6783-A74F-5905F021CF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imes New Roman" panose="02020603050405020304" pitchFamily="18" charset="0"/>
                <a:ea typeface="Liberation Serif" pitchFamily="34" charset="-122"/>
                <a:cs typeface="Times New Roman" panose="02020603050405020304" pitchFamily="18" charset="0"/>
              </a:rPr>
              <a:t>My Recommendation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imes New Roman" panose="02020603050405020304" pitchFamily="18" charset="0"/>
                <a:ea typeface="Carlito" pitchFamily="34" charset="-122"/>
                <a:cs typeface="Times New Roman" panose="02020603050405020304" pitchFamily="18" charset="0"/>
              </a:rPr>
              <a:t>Four phases · Zero capital investment required · All within current 5-mill, 5-warehouse network</a:t>
            </a:r>
            <a:endParaRPr kumimoji="0" lang="en-US" sz="2000" b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1874520"/>
            <a:ext cx="2788920" cy="429768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25400">
            <a:solidFill>
              <a:srgbClr val="DC262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2788920" cy="50292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594360" y="1874520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0" cap="none" spc="2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 New Roman" panose="02020603050405020304" pitchFamily="18" charset="0"/>
                <a:ea typeface="Carlito" pitchFamily="34" charset="-122"/>
                <a:cs typeface="Times New Roman" panose="02020603050405020304" pitchFamily="18" charset="0"/>
              </a:rPr>
              <a:t>PHASE 1 · Sprint 0-90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548640" y="2460516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900" b="1" dirty="0">
                <a:solidFill>
                  <a:srgbClr val="0F172A"/>
                </a:solidFill>
                <a:latin typeface="Times New Roman" panose="02020603050405020304" pitchFamily="18" charset="0"/>
                <a:ea typeface="Liberation Serif" pitchFamily="34" charset="-122"/>
                <a:cs typeface="Times New Roman" panose="02020603050405020304" pitchFamily="18" charset="0"/>
              </a:rPr>
              <a:t>Stabilize</a:t>
            </a:r>
            <a:r>
              <a:rPr kumimoji="0" lang="en-US" sz="1900" b="1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Times New Roman" panose="02020603050405020304" pitchFamily="18" charset="0"/>
                <a:ea typeface="Liberation Serif" pitchFamily="34" charset="-122"/>
                <a:cs typeface="Times New Roman" panose="02020603050405020304" pitchFamily="18" charset="0"/>
              </a:rPr>
              <a:t> Texas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9600" y="2904664"/>
            <a:ext cx="2606040" cy="288460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Carlito" pitchFamily="34" charset="-122"/>
                <a:cs typeface="Times New Roman" panose="02020603050405020304" pitchFamily="18" charset="0"/>
              </a:rPr>
              <a:t>• Root-cause Sysco-TX losses w/ Gus Patrick &amp; </a:t>
            </a:r>
            <a:r>
              <a:rPr lang="en-US" dirty="0">
                <a:latin typeface="Times New Roman" panose="02020603050405020304" pitchFamily="18" charset="0"/>
                <a:ea typeface="Carlito" pitchFamily="34" charset="-122"/>
                <a:cs typeface="Times New Roman" panose="02020603050405020304" pitchFamily="18" charset="0"/>
              </a:rPr>
              <a:t>Melissa </a:t>
            </a: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Carlito" pitchFamily="34" charset="-122"/>
                <a:cs typeface="Times New Roman" panose="02020603050405020304" pitchFamily="18" charset="0"/>
              </a:rPr>
              <a:t>Magsalin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Carlito" pitchFamily="34" charset="-122"/>
                <a:cs typeface="Times New Roman" panose="02020603050405020304" pitchFamily="18" charset="0"/>
              </a:rPr>
              <a:t>• Quantify competitive vs program vs distributor loss </a:t>
            </a:r>
            <a:endParaRPr lang="en-US" dirty="0">
              <a:latin typeface="Times New Roman" panose="02020603050405020304" pitchFamily="18" charset="0"/>
              <a:ea typeface="Carlito" pitchFamily="34" charset="-122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Carlito" pitchFamily="34" charset="-122"/>
                <a:cs typeface="Times New Roman" panose="02020603050405020304" pitchFamily="18" charset="0"/>
              </a:rPr>
              <a:t>• Stabilize biggest 5 customer losses by end of FY27 Q1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3383280" y="1828800"/>
            <a:ext cx="2788920" cy="429768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25400">
            <a:solidFill>
              <a:srgbClr val="EA580C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3383280" y="1828800"/>
            <a:ext cx="2788920" cy="50292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3520440" y="1874520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0" cap="none" spc="2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 New Roman" panose="02020603050405020304" pitchFamily="18" charset="0"/>
                <a:ea typeface="Carlito" pitchFamily="34" charset="-122"/>
                <a:cs typeface="Times New Roman" panose="02020603050405020304" pitchFamily="18" charset="0"/>
              </a:rPr>
              <a:t>PHASE 2 · Months 3-9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3383280" y="2460516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1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Times New Roman" panose="02020603050405020304" pitchFamily="18" charset="0"/>
                <a:ea typeface="Liberation Serif" pitchFamily="34" charset="-122"/>
                <a:cs typeface="Times New Roman" panose="02020603050405020304" pitchFamily="18" charset="0"/>
              </a:rPr>
              <a:t>Win in the Southeast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3406140" y="2813901"/>
            <a:ext cx="2743200" cy="328759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Carlito" pitchFamily="34" charset="-122"/>
                <a:cs typeface="Times New Roman" panose="02020603050405020304" pitchFamily="18" charset="0"/>
              </a:rPr>
              <a:t>• Evaluate proposed Atlanta WH (biggest SE leverage) </a:t>
            </a:r>
            <a:endParaRPr lang="en-US" dirty="0">
              <a:latin typeface="Times New Roman" panose="02020603050405020304" pitchFamily="18" charset="0"/>
              <a:ea typeface="Carlito" pitchFamily="34" charset="-122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Carlito" pitchFamily="34" charset="-122"/>
                <a:cs typeface="Times New Roman" panose="02020603050405020304" pitchFamily="18" charset="0"/>
              </a:rPr>
              <a:t>• Deepen GFS-Shepherdsville w/ Dean Psyhogios (already +122.5%) </a:t>
            </a:r>
            <a:endParaRPr lang="en-US" dirty="0">
              <a:latin typeface="Times New Roman" panose="02020603050405020304" pitchFamily="18" charset="0"/>
              <a:ea typeface="Carlito" pitchFamily="34" charset="-122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Carlito" pitchFamily="34" charset="-122"/>
                <a:cs typeface="Times New Roman" panose="02020603050405020304" pitchFamily="18" charset="0"/>
              </a:rPr>
              <a:t>• FL toll-mill feasibility, no GM capex </a:t>
            </a:r>
            <a:endParaRPr lang="en-US" dirty="0">
              <a:latin typeface="Times New Roman" panose="02020603050405020304" pitchFamily="18" charset="0"/>
              <a:ea typeface="Carlito" pitchFamily="34" charset="-122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Carlito" pitchFamily="34" charset="-122"/>
                <a:cs typeface="Times New Roman" panose="02020603050405020304" pitchFamily="18" charset="0"/>
              </a:rPr>
              <a:t>• Replicate Josh Cohen Nashville playbook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309360" y="1828800"/>
            <a:ext cx="2788920" cy="429768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25400">
            <a:solidFill>
              <a:srgbClr val="1F6FEB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6309360" y="1828800"/>
            <a:ext cx="2788920" cy="502920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6446520" y="1874520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0" cap="none" spc="2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 New Roman" panose="02020603050405020304" pitchFamily="18" charset="0"/>
                <a:ea typeface="Carlito" pitchFamily="34" charset="-122"/>
                <a:cs typeface="Times New Roman" panose="02020603050405020304" pitchFamily="18" charset="0"/>
              </a:rPr>
              <a:t>PHASE 3 · Months 6-18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6446520" y="2460516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1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Times New Roman" panose="02020603050405020304" pitchFamily="18" charset="0"/>
                <a:ea typeface="Liberation Serif" pitchFamily="34" charset="-122"/>
                <a:cs typeface="Times New Roman" panose="02020603050405020304" pitchFamily="18" charset="0"/>
              </a:rPr>
              <a:t>Build Houston Case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6446520" y="3103384"/>
            <a:ext cx="2606040" cy="27733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Carlito" pitchFamily="34" charset="-122"/>
                <a:cs typeface="Times New Roman" panose="02020603050405020304" pitchFamily="18" charset="0"/>
              </a:rPr>
              <a:t>• Quantify Houston Index 49 gap (~8-9M lb opportunity) </a:t>
            </a:r>
            <a:br>
              <a:rPr lang="en-US" dirty="0">
                <a:latin typeface="Times New Roman" panose="02020603050405020304" pitchFamily="18" charset="0"/>
                <a:ea typeface="Carlito" pitchFamily="34" charset="-122"/>
                <a:cs typeface="Times New Roman" panose="02020603050405020304" pitchFamily="18" charset="0"/>
              </a:rPr>
            </a:b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Carlito" pitchFamily="34" charset="-122"/>
                <a:cs typeface="Times New Roman" panose="02020603050405020304" pitchFamily="18" charset="0"/>
              </a:rPr>
              <a:t>• Map operator base by segment &amp; channel </a:t>
            </a:r>
            <a:endParaRPr lang="en-US" dirty="0">
              <a:latin typeface="Times New Roman" panose="02020603050405020304" pitchFamily="18" charset="0"/>
              <a:ea typeface="Carlito" pitchFamily="34" charset="-122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Carlito" pitchFamily="34" charset="-122"/>
                <a:cs typeface="Times New Roman" panose="02020603050405020304" pitchFamily="18" charset="0"/>
              </a:rPr>
              <a:t>• Build GTM plan w/ Labatt &amp; Sysco-Houston • Pilot scope w/ Gus Patrick </a:t>
            </a:r>
            <a:r>
              <a:rPr lang="en-US" dirty="0">
                <a:latin typeface="Times New Roman" panose="02020603050405020304" pitchFamily="18" charset="0"/>
                <a:ea typeface="Carlito" pitchFamily="34" charset="-122"/>
                <a:cs typeface="Times New Roman" panose="02020603050405020304" pitchFamily="18" charset="0"/>
              </a:rPr>
              <a:t>&amp; Melissa </a:t>
            </a: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Carlito" pitchFamily="34" charset="-122"/>
                <a:cs typeface="Times New Roman" panose="02020603050405020304" pitchFamily="18" charset="0"/>
              </a:rPr>
              <a:t>Magsalin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9235440" y="1828800"/>
            <a:ext cx="2788920" cy="429768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25400">
            <a:solidFill>
              <a:srgbClr val="16A34A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9235440" y="1828800"/>
            <a:ext cx="2788920" cy="5029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9288780" y="1874520"/>
            <a:ext cx="2819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0" cap="none" spc="2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 New Roman" panose="02020603050405020304" pitchFamily="18" charset="0"/>
                <a:ea typeface="Carlito" pitchFamily="34" charset="-122"/>
                <a:cs typeface="Times New Roman" panose="02020603050405020304" pitchFamily="18" charset="0"/>
              </a:rPr>
              <a:t>PHASE 4 · Months 12-24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9372600" y="2528310"/>
            <a:ext cx="2606040" cy="37635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1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Times New Roman" panose="02020603050405020304" pitchFamily="18" charset="0"/>
                <a:ea typeface="Liberation Serif" pitchFamily="34" charset="-122"/>
                <a:cs typeface="Times New Roman" panose="02020603050405020304" pitchFamily="18" charset="0"/>
              </a:rPr>
              <a:t>Defend the West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9326880" y="2994660"/>
            <a:ext cx="26060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lvl="0" defTabSz="914400"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Carlito" pitchFamily="34" charset="-122"/>
                <a:cs typeface="Times New Roman" panose="02020603050405020304" pitchFamily="18" charset="0"/>
              </a:rPr>
              <a:t>• West region -1.1pp share </a:t>
            </a:r>
          </a:p>
          <a:p>
            <a:pPr lvl="0" defTabSz="914400">
              <a:defRPr/>
            </a:pPr>
            <a:r>
              <a:rPr lang="en-US" dirty="0">
                <a:latin typeface="Times New Roman" panose="02020603050405020304" pitchFamily="18" charset="0"/>
                <a:ea typeface="Carlito" pitchFamily="34" charset="-122"/>
                <a:cs typeface="Times New Roman" panose="02020603050405020304" pitchFamily="18" charset="0"/>
              </a:rPr>
              <a:t>• </a:t>
            </a: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Carlito" pitchFamily="34" charset="-122"/>
                <a:cs typeface="Times New Roman" panose="02020603050405020304" pitchFamily="18" charset="0"/>
              </a:rPr>
              <a:t>Phoenix only positive True 5 </a:t>
            </a:r>
            <a:endParaRPr lang="en-US" dirty="0">
              <a:latin typeface="Times New Roman" panose="02020603050405020304" pitchFamily="18" charset="0"/>
              <a:ea typeface="Carlito" pitchFamily="34" charset="-122"/>
              <a:cs typeface="Times New Roman" panose="02020603050405020304" pitchFamily="18" charset="0"/>
            </a:endParaRPr>
          </a:p>
          <a:p>
            <a:pPr lvl="0" defTabSz="914400"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Carlito" pitchFamily="34" charset="-122"/>
                <a:cs typeface="Times New Roman" panose="02020603050405020304" pitchFamily="18" charset="0"/>
              </a:rPr>
              <a:t>• Formalize playbook for Shotsie Wilson, Yoel Sharabi, Nancy Muller </a:t>
            </a:r>
            <a:endParaRPr lang="en-US" dirty="0">
              <a:latin typeface="Times New Roman" panose="02020603050405020304" pitchFamily="18" charset="0"/>
              <a:ea typeface="Carlito" pitchFamily="34" charset="-122"/>
              <a:cs typeface="Times New Roman" panose="02020603050405020304" pitchFamily="18" charset="0"/>
            </a:endParaRPr>
          </a:p>
          <a:p>
            <a:pPr lvl="0" defTabSz="914400"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Carlito" pitchFamily="34" charset="-122"/>
                <a:cs typeface="Times New Roman" panose="02020603050405020304" pitchFamily="18" charset="0"/>
              </a:rPr>
              <a:t>• Document Vernon truck-direct advantage </a:t>
            </a:r>
          </a:p>
          <a:p>
            <a:pPr lvl="0" defTabSz="914400"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Carlito" pitchFamily="34" charset="-122"/>
                <a:cs typeface="Times New Roman" panose="02020603050405020304" pitchFamily="18" charset="0"/>
              </a:rPr>
              <a:t>• Lock multi-year Custom Label deals in TX/GA chain HQs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0" y="6355080"/>
            <a:ext cx="12191695" cy="41148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274320" y="6355080"/>
            <a:ext cx="11612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lvl="0" algn="ctr" defTabSz="914400"/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Fix Texas. Win the Southeast. Build Houston. Defend the West. All within the current 5-mill, 5-warehouse network.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42AB80C-EB4C-372A-ED17-7604DAA04578}"/>
              </a:ext>
            </a:extLst>
          </p:cNvPr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1132</TotalTime>
  <Words>980</Words>
  <Application>Microsoft Office PowerPoint</Application>
  <PresentationFormat>Widescreen</PresentationFormat>
  <Paragraphs>177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5</vt:i4>
      </vt:variant>
    </vt:vector>
  </HeadingPairs>
  <TitlesOfParts>
    <vt:vector size="12" baseType="lpstr">
      <vt:lpstr>Aptos</vt:lpstr>
      <vt:lpstr>Arial</vt:lpstr>
      <vt:lpstr>Calibri</vt:lpstr>
      <vt:lpstr>Carlito</vt:lpstr>
      <vt:lpstr>Times New Roman</vt:lpstr>
      <vt:lpstr>Office Theme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Jake Gilstein</cp:lastModifiedBy>
  <cp:revision>4</cp:revision>
  <dcterms:created xsi:type="dcterms:W3CDTF">2013-01-27T09:14:16Z</dcterms:created>
  <dcterms:modified xsi:type="dcterms:W3CDTF">2026-05-29T17:20:37Z</dcterms:modified>
  <cp:category/>
</cp:coreProperties>
</file>